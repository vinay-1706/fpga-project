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5" r:id="rId2"/>
    <p:sldId id="272" r:id="rId3"/>
    <p:sldId id="258" r:id="rId4"/>
    <p:sldId id="260" r:id="rId5"/>
    <p:sldId id="261" r:id="rId6"/>
    <p:sldId id="263" r:id="rId7"/>
    <p:sldId id="262" r:id="rId8"/>
    <p:sldId id="264" r:id="rId9"/>
    <p:sldId id="265" r:id="rId10"/>
    <p:sldId id="266" r:id="rId11"/>
    <p:sldId id="267" r:id="rId12"/>
    <p:sldId id="283" r:id="rId13"/>
    <p:sldId id="284" r:id="rId14"/>
    <p:sldId id="268" r:id="rId15"/>
    <p:sldId id="269" r:id="rId16"/>
    <p:sldId id="270" r:id="rId17"/>
    <p:sldId id="271" r:id="rId18"/>
    <p:sldId id="273" r:id="rId19"/>
    <p:sldId id="275" r:id="rId20"/>
    <p:sldId id="274"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D64C77-C73E-873F-FD4D-731A972CDCFA}" v="8" dt="2025-11-25T07:08:21.888"/>
    <p1510:client id="{ADAC14F7-5BD2-053E-6102-6787994D7C5E}" v="207" dt="2025-11-24T18:24:52.423"/>
    <p1510:client id="{F80D0D17-C5D9-4442-8EBC-33A685FD271C}" v="19" dt="2025-11-25T07:12:22.983"/>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80469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3364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30256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88190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11/25/2025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21271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11/25/2025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60762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11/25/2025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30885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56389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72315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6429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636171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32755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527594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60080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95661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40785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11/25/2025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4674668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427F-B82C-D49E-1C6D-79F54152FA4E}"/>
              </a:ext>
            </a:extLst>
          </p:cNvPr>
          <p:cNvSpPr>
            <a:spLocks noGrp="1"/>
          </p:cNvSpPr>
          <p:nvPr>
            <p:ph type="title"/>
          </p:nvPr>
        </p:nvSpPr>
        <p:spPr/>
        <p:txBody>
          <a:bodyPr>
            <a:normAutofit/>
          </a:bodyPr>
          <a:lstStyle/>
          <a:p>
            <a:r>
              <a:rPr lang="en-IN" sz="5400" b="1">
                <a:latin typeface="Cambria" panose="02040503050406030204" pitchFamily="18" charset="0"/>
                <a:ea typeface="Cambria" panose="02040503050406030204" pitchFamily="18" charset="0"/>
              </a:rPr>
              <a:t>FPGA PROJECT</a:t>
            </a:r>
          </a:p>
        </p:txBody>
      </p:sp>
      <p:sp>
        <p:nvSpPr>
          <p:cNvPr id="3" name="Text Placeholder 2">
            <a:extLst>
              <a:ext uri="{FF2B5EF4-FFF2-40B4-BE49-F238E27FC236}">
                <a16:creationId xmlns:a16="http://schemas.microsoft.com/office/drawing/2014/main" id="{BFE12E8E-4DA0-7D94-01F9-C118B59B031E}"/>
              </a:ext>
            </a:extLst>
          </p:cNvPr>
          <p:cNvSpPr>
            <a:spLocks noGrp="1"/>
          </p:cNvSpPr>
          <p:nvPr>
            <p:ph type="body" idx="1"/>
          </p:nvPr>
        </p:nvSpPr>
        <p:spPr/>
        <p:txBody>
          <a:bodyPr/>
          <a:lstStyle/>
          <a:p>
            <a:r>
              <a:rPr lang="en-IN"/>
              <a:t>SIDDHANT DEORE, IMT2023539</a:t>
            </a:r>
          </a:p>
          <a:p>
            <a:r>
              <a:rPr lang="en-IN"/>
              <a:t>VINAY P RAMESH, IMT2023541</a:t>
            </a:r>
          </a:p>
        </p:txBody>
      </p:sp>
    </p:spTree>
    <p:extLst>
      <p:ext uri="{BB962C8B-B14F-4D97-AF65-F5344CB8AC3E}">
        <p14:creationId xmlns:p14="http://schemas.microsoft.com/office/powerpoint/2010/main" val="167309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0676D-513E-0FB0-01DC-BD3165EC5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F6824-3FBD-D79E-EC3C-14561C1D010C}"/>
              </a:ext>
            </a:extLst>
          </p:cNvPr>
          <p:cNvSpPr>
            <a:spLocks noGrp="1"/>
          </p:cNvSpPr>
          <p:nvPr>
            <p:ph type="title"/>
          </p:nvPr>
        </p:nvSpPr>
        <p:spPr>
          <a:xfrm>
            <a:off x="838200" y="188145"/>
            <a:ext cx="10515600" cy="873740"/>
          </a:xfrm>
        </p:spPr>
        <p:txBody>
          <a:bodyPr/>
          <a:lstStyle/>
          <a:p>
            <a:pPr algn="ctr"/>
            <a:r>
              <a:rPr lang="en-IN" u="sng">
                <a:latin typeface="Cambria" panose="02040503050406030204" pitchFamily="18" charset="0"/>
                <a:ea typeface="Cambria" panose="02040503050406030204" pitchFamily="18" charset="0"/>
              </a:rPr>
              <a:t>GENERAL TERMS</a:t>
            </a:r>
          </a:p>
        </p:txBody>
      </p:sp>
      <p:sp>
        <p:nvSpPr>
          <p:cNvPr id="3" name="TextBox 2">
            <a:extLst>
              <a:ext uri="{FF2B5EF4-FFF2-40B4-BE49-F238E27FC236}">
                <a16:creationId xmlns:a16="http://schemas.microsoft.com/office/drawing/2014/main" id="{73F6422D-E12F-BAE9-40FB-8B77F47ED6E2}"/>
              </a:ext>
            </a:extLst>
          </p:cNvPr>
          <p:cNvSpPr txBox="1"/>
          <p:nvPr/>
        </p:nvSpPr>
        <p:spPr>
          <a:xfrm>
            <a:off x="924232" y="1229032"/>
            <a:ext cx="9753600" cy="5078313"/>
          </a:xfrm>
          <a:prstGeom prst="rect">
            <a:avLst/>
          </a:prstGeom>
          <a:noFill/>
        </p:spPr>
        <p:txBody>
          <a:bodyPr wrap="square" lIns="91440" tIns="45720" rIns="91440" bIns="45720" rtlCol="0" anchor="t">
            <a:spAutoFit/>
          </a:bodyPr>
          <a:lstStyle/>
          <a:p>
            <a:r>
              <a:rPr lang="en-IN" b="1" u="sng"/>
              <a:t>Latency</a:t>
            </a:r>
            <a:r>
              <a:rPr lang="en-IN"/>
              <a:t> : </a:t>
            </a:r>
            <a:r>
              <a:rPr lang="en-IN">
                <a:ea typeface="+mn-lt"/>
                <a:cs typeface="+mn-lt"/>
              </a:rPr>
              <a:t>Latency is the number of clock cycles it takes for one input to produce its corresponding output. Here, it is the time, measured in clock cycles, between asserting </a:t>
            </a:r>
            <a:r>
              <a:rPr lang="en-IN" err="1">
                <a:latin typeface="Consolas"/>
                <a:ea typeface="+mn-lt"/>
                <a:cs typeface="+mn-lt"/>
              </a:rPr>
              <a:t>valid_in</a:t>
            </a:r>
            <a:r>
              <a:rPr lang="en-IN">
                <a:ea typeface="+mn-lt"/>
                <a:cs typeface="+mn-lt"/>
              </a:rPr>
              <a:t> for an operation and receiving the corresponding </a:t>
            </a:r>
            <a:r>
              <a:rPr lang="en-IN" err="1">
                <a:latin typeface="Consolas"/>
                <a:ea typeface="+mn-lt"/>
                <a:cs typeface="+mn-lt"/>
              </a:rPr>
              <a:t>valid_out</a:t>
            </a:r>
            <a:r>
              <a:rPr lang="en-IN">
                <a:ea typeface="+mn-lt"/>
                <a:cs typeface="+mn-lt"/>
              </a:rPr>
              <a:t> with the correct result. Latency represents the </a:t>
            </a:r>
            <a:r>
              <a:rPr lang="en-IN" i="1">
                <a:ea typeface="+mn-lt"/>
                <a:cs typeface="+mn-lt"/>
              </a:rPr>
              <a:t>delay</a:t>
            </a:r>
            <a:r>
              <a:rPr lang="en-IN">
                <a:ea typeface="+mn-lt"/>
                <a:cs typeface="+mn-lt"/>
              </a:rPr>
              <a:t> of the pipeline.</a:t>
            </a:r>
            <a:br>
              <a:rPr lang="en-IN">
                <a:ea typeface="+mn-lt"/>
                <a:cs typeface="+mn-lt"/>
              </a:rPr>
            </a:br>
            <a:br>
              <a:rPr lang="en-IN">
                <a:ea typeface="+mn-lt"/>
                <a:cs typeface="+mn-lt"/>
              </a:rPr>
            </a:br>
            <a:r>
              <a:rPr lang="en-IN" b="1" u="sng">
                <a:ea typeface="+mn-lt"/>
                <a:cs typeface="+mn-lt"/>
              </a:rPr>
              <a:t>Throughput</a:t>
            </a:r>
            <a:r>
              <a:rPr lang="en-IN">
                <a:ea typeface="+mn-lt"/>
                <a:cs typeface="+mn-lt"/>
              </a:rPr>
              <a:t> : Throughput is the rate at which the design produces results, measured as results per clock cycle (or results per second). It reflects how many independent operations the pipeline can complete every cycle after the pipeline is filled.</a:t>
            </a:r>
          </a:p>
          <a:p>
            <a:endParaRPr lang="en-IN">
              <a:ea typeface="+mn-lt"/>
              <a:cs typeface="+mn-lt"/>
            </a:endParaRPr>
          </a:p>
          <a:p>
            <a:r>
              <a:rPr lang="en-IN" b="1" u="sng">
                <a:ea typeface="+mn-lt"/>
                <a:cs typeface="+mn-lt"/>
              </a:rPr>
              <a:t>Resource Usage</a:t>
            </a:r>
            <a:r>
              <a:rPr lang="en-IN">
                <a:ea typeface="+mn-lt"/>
                <a:cs typeface="+mn-lt"/>
              </a:rPr>
              <a:t> : Resource usage measures the amount of FPGA logic consumed by the design, typically reported as LUTs (Look-Up Tables), FFs (Flip-Flops), DSP blocks, and BRAMs used after synthesis and implementation.</a:t>
            </a:r>
          </a:p>
          <a:p>
            <a:endParaRPr lang="en-IN">
              <a:ea typeface="+mn-lt"/>
              <a:cs typeface="+mn-lt"/>
            </a:endParaRPr>
          </a:p>
          <a:p>
            <a:r>
              <a:rPr lang="en-IN" b="1" u="sng">
                <a:ea typeface="+mn-lt"/>
                <a:cs typeface="+mn-lt"/>
              </a:rPr>
              <a:t>Maximum Clock Frequency</a:t>
            </a:r>
            <a:r>
              <a:rPr lang="en-IN">
                <a:ea typeface="+mn-lt"/>
                <a:cs typeface="+mn-lt"/>
              </a:rPr>
              <a:t> : Maximum Clock Frequency (Fmax) is the highest frequency at which the synthesized design meets timing constraints, determined by the critical path and shown in the timing report (WNS ≥ 0). Also it should be lesser than the clock cycle duration.</a:t>
            </a:r>
            <a:br>
              <a:rPr lang="en-IN">
                <a:ea typeface="+mn-lt"/>
                <a:cs typeface="+mn-lt"/>
              </a:rPr>
            </a:br>
            <a:br>
              <a:rPr lang="en-IN">
                <a:ea typeface="+mn-lt"/>
                <a:cs typeface="+mn-lt"/>
              </a:rPr>
            </a:br>
            <a:endParaRPr lang="en-IN">
              <a:ea typeface="Calibri"/>
              <a:cs typeface="Calibri"/>
            </a:endParaRPr>
          </a:p>
        </p:txBody>
      </p:sp>
    </p:spTree>
    <p:extLst>
      <p:ext uri="{BB962C8B-B14F-4D97-AF65-F5344CB8AC3E}">
        <p14:creationId xmlns:p14="http://schemas.microsoft.com/office/powerpoint/2010/main" val="100490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F38AB-CC42-3314-F6C9-46B9C69EE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1F412-F0D5-297F-3902-75E5133A3968}"/>
              </a:ext>
            </a:extLst>
          </p:cNvPr>
          <p:cNvSpPr>
            <a:spLocks noGrp="1"/>
          </p:cNvSpPr>
          <p:nvPr>
            <p:ph type="title"/>
          </p:nvPr>
        </p:nvSpPr>
        <p:spPr>
          <a:xfrm>
            <a:off x="838200" y="188144"/>
            <a:ext cx="10515600" cy="1325563"/>
          </a:xfrm>
        </p:spPr>
        <p:txBody>
          <a:bodyPr/>
          <a:lstStyle/>
          <a:p>
            <a:pPr algn="ctr"/>
            <a:r>
              <a:rPr lang="en-IN" u="sng">
                <a:latin typeface="Cambria" panose="02040503050406030204" pitchFamily="18" charset="0"/>
                <a:ea typeface="Cambria" panose="02040503050406030204" pitchFamily="18" charset="0"/>
              </a:rPr>
              <a:t>IEEE 754 FLOATING POINT NUMBERS</a:t>
            </a:r>
            <a:br>
              <a:rPr lang="en-IN" u="sng">
                <a:latin typeface="Cambria" panose="02040503050406030204" pitchFamily="18" charset="0"/>
                <a:ea typeface="Cambria" panose="02040503050406030204" pitchFamily="18" charset="0"/>
              </a:rPr>
            </a:br>
            <a:endParaRPr lang="en-IN" u="sng">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E30C344-7D34-A4FB-3606-AF1A7C902B0F}"/>
              </a:ext>
            </a:extLst>
          </p:cNvPr>
          <p:cNvSpPr txBox="1"/>
          <p:nvPr/>
        </p:nvSpPr>
        <p:spPr>
          <a:xfrm>
            <a:off x="739877" y="1125361"/>
            <a:ext cx="4097137" cy="5808898"/>
          </a:xfrm>
          <a:prstGeom prst="rect">
            <a:avLst/>
          </a:prstGeom>
          <a:noFill/>
        </p:spPr>
        <p:txBody>
          <a:bodyPr wrap="square" lIns="91440" tIns="45720" rIns="91440" bIns="45720" anchor="t">
            <a:spAutoFit/>
          </a:bodyPr>
          <a:lstStyle/>
          <a:p>
            <a:pPr marL="342900" indent="-342900">
              <a:lnSpc>
                <a:spcPct val="107000"/>
              </a:lnSpc>
              <a:buFont typeface="Symbol" panose="05050102010706020507" pitchFamily="18" charset="2"/>
              <a:buChar char=""/>
            </a:pPr>
            <a:endParaRPr lang="en-IN" sz="1600" b="1" kern="100">
              <a:latin typeface="Cambria"/>
              <a:ea typeface="Cambria"/>
              <a:cs typeface="Times New Roman"/>
            </a:endParaRPr>
          </a:p>
          <a:p>
            <a:pPr marL="342900" lvl="0" indent="-342900">
              <a:lnSpc>
                <a:spcPct val="107000"/>
              </a:lnSpc>
              <a:buFont typeface="Symbol" panose="05050102010706020507" pitchFamily="18" charset="2"/>
              <a:buChar char=""/>
            </a:pPr>
            <a:r>
              <a:rPr lang="en-IN" sz="1600" b="1" kern="100">
                <a:effectLst/>
                <a:latin typeface="Cambria"/>
                <a:ea typeface="Cambria"/>
                <a:cs typeface="Times New Roman"/>
              </a:rPr>
              <a:t>Example:</a:t>
            </a:r>
            <a:endParaRPr lang="en-IN">
              <a:latin typeface="Cambria"/>
              <a:ea typeface="Cambria"/>
              <a:cs typeface="Times New Roman"/>
            </a:endParaRPr>
          </a:p>
          <a:p>
            <a:pPr marL="914400">
              <a:lnSpc>
                <a:spcPct val="107000"/>
              </a:lnSpc>
              <a:spcAft>
                <a:spcPts val="800"/>
              </a:spcAft>
              <a:buNone/>
            </a:pP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85.125</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85 = 1010101</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0.125 = 001</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85.125 = 1010101.001</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       =1.010101001 x 2^6 </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sign = 0 </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1. Single precision:</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biased exponent 127+6=133</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133 = 10000101</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Normalised mantissa = 010101001</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we will add 0's to complete the 23 bits</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The IEEE 754 Single precision is:</a:t>
            </a:r>
            <a:endParaRPr lang="en-IN" sz="1200" kern="100">
              <a:effectLst/>
              <a:latin typeface="Consolas"/>
              <a:ea typeface="Calibri" panose="020F0502020204030204" pitchFamily="34" charset="0"/>
              <a:cs typeface="Courier New"/>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 0 10000101 01010100100000000000000</a:t>
            </a:r>
            <a:endParaRPr lang="en-IN" sz="1200" kern="100">
              <a:effectLst/>
              <a:latin typeface="Consolas"/>
              <a:ea typeface="Calibri" panose="020F0502020204030204" pitchFamily="34" charset="0"/>
              <a:cs typeface="Courier New"/>
            </a:endParaRPr>
          </a:p>
          <a:p>
            <a:pPr marL="45720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a:solidFill>
                  <a:srgbClr val="000000"/>
                </a:solidFill>
                <a:effectLst/>
                <a:latin typeface="Consolas"/>
                <a:ea typeface="Times New Roman" panose="02020603050405020304" pitchFamily="18" charset="0"/>
                <a:cs typeface="Courier New"/>
              </a:rPr>
              <a:t>This can be written in hexadecimal form </a:t>
            </a:r>
            <a:r>
              <a:rPr lang="en-IN" sz="1200" b="1" kern="0" spc="10">
                <a:solidFill>
                  <a:srgbClr val="000000"/>
                </a:solidFill>
                <a:effectLst/>
                <a:latin typeface="Consolas"/>
                <a:ea typeface="Times New Roman" panose="02020603050405020304" pitchFamily="18" charset="0"/>
                <a:cs typeface="Courier New"/>
              </a:rPr>
              <a:t>42AA4000</a:t>
            </a:r>
            <a:endParaRPr lang="en-IN" sz="1200" kern="100">
              <a:effectLst/>
              <a:latin typeface="Consolas"/>
              <a:ea typeface="Calibri" panose="020F0502020204030204" pitchFamily="34" charset="0"/>
              <a:cs typeface="Courier New"/>
            </a:endParaRPr>
          </a:p>
        </p:txBody>
      </p:sp>
      <p:pic>
        <p:nvPicPr>
          <p:cNvPr id="6" name="Picture 5">
            <a:extLst>
              <a:ext uri="{FF2B5EF4-FFF2-40B4-BE49-F238E27FC236}">
                <a16:creationId xmlns:a16="http://schemas.microsoft.com/office/drawing/2014/main" id="{D7547262-EFF8-3E3D-C4D0-6B79B19E98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22058" y="1180805"/>
            <a:ext cx="7030065" cy="2849834"/>
          </a:xfrm>
          <a:prstGeom prst="rect">
            <a:avLst/>
          </a:prstGeom>
          <a:noFill/>
          <a:ln>
            <a:noFill/>
          </a:ln>
        </p:spPr>
      </p:pic>
      <p:sp>
        <p:nvSpPr>
          <p:cNvPr id="7" name="TextBox 6">
            <a:extLst>
              <a:ext uri="{FF2B5EF4-FFF2-40B4-BE49-F238E27FC236}">
                <a16:creationId xmlns:a16="http://schemas.microsoft.com/office/drawing/2014/main" id="{E4535FF2-5F57-1891-FB2E-1F6B81E6F880}"/>
              </a:ext>
            </a:extLst>
          </p:cNvPr>
          <p:cNvSpPr txBox="1"/>
          <p:nvPr/>
        </p:nvSpPr>
        <p:spPr>
          <a:xfrm>
            <a:off x="5091086" y="4493474"/>
            <a:ext cx="6361037" cy="1477328"/>
          </a:xfrm>
          <a:prstGeom prst="rect">
            <a:avLst/>
          </a:prstGeom>
          <a:noFill/>
        </p:spPr>
        <p:txBody>
          <a:bodyPr wrap="none" lIns="91440" tIns="45720" rIns="91440" bIns="45720" rtlCol="0" anchor="t">
            <a:spAutoFit/>
          </a:bodyPr>
          <a:lstStyle/>
          <a:p>
            <a:pPr marL="285750" indent="-285750">
              <a:buFont typeface="Arial" panose="020B0604020202020204" pitchFamily="34" charset="0"/>
              <a:buChar char="•"/>
            </a:pPr>
            <a:r>
              <a:rPr lang="en-IN"/>
              <a:t>A single-precision FP number is:</a:t>
            </a:r>
            <a:br>
              <a:rPr lang="en-IN"/>
            </a:br>
            <a:r>
              <a:rPr lang="en-IN"/>
              <a:t>(-1)^sign  ×  1.frac  ×  2^(exp − 127)</a:t>
            </a:r>
          </a:p>
          <a:p>
            <a:endParaRPr lang="en-IN"/>
          </a:p>
          <a:p>
            <a:pPr marL="285750" indent="-285750">
              <a:buFont typeface="Arial" panose="020B0604020202020204" pitchFamily="34" charset="0"/>
              <a:buChar char="•"/>
            </a:pPr>
            <a:r>
              <a:rPr lang="en-IN"/>
              <a:t>This uses Newton-Raphson or Goldschmidt algorithm.</a:t>
            </a:r>
          </a:p>
          <a:p>
            <a:pPr marL="285750" indent="-285750">
              <a:buFont typeface="Arial" panose="020B0604020202020204" pitchFamily="34" charset="0"/>
              <a:buChar char="•"/>
            </a:pPr>
            <a:endParaRPr lang="en-IN"/>
          </a:p>
        </p:txBody>
      </p:sp>
    </p:spTree>
    <p:extLst>
      <p:ext uri="{BB962C8B-B14F-4D97-AF65-F5344CB8AC3E}">
        <p14:creationId xmlns:p14="http://schemas.microsoft.com/office/powerpoint/2010/main" val="1159551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9C95-A603-B35D-0B65-205EF9063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26AFA-0C21-AB7C-A317-B2AEA502D95A}"/>
              </a:ext>
            </a:extLst>
          </p:cNvPr>
          <p:cNvSpPr>
            <a:spLocks noGrp="1"/>
          </p:cNvSpPr>
          <p:nvPr>
            <p:ph type="title"/>
          </p:nvPr>
        </p:nvSpPr>
        <p:spPr>
          <a:xfrm>
            <a:off x="838200" y="188144"/>
            <a:ext cx="10515600" cy="1325563"/>
          </a:xfrm>
        </p:spPr>
        <p:txBody>
          <a:bodyPr/>
          <a:lstStyle/>
          <a:p>
            <a:pPr algn="ctr"/>
            <a:r>
              <a:rPr lang="en-IN" u="sng">
                <a:latin typeface="Cambria" panose="02040503050406030204" pitchFamily="18" charset="0"/>
                <a:ea typeface="Cambria" panose="02040503050406030204" pitchFamily="18" charset="0"/>
              </a:rPr>
              <a:t>IEEE 754 FLOATING POINT IP DIVIDER</a:t>
            </a:r>
            <a:br>
              <a:rPr lang="en-IN" u="sng">
                <a:latin typeface="Cambria" panose="02040503050406030204" pitchFamily="18" charset="0"/>
                <a:ea typeface="Cambria" panose="02040503050406030204" pitchFamily="18" charset="0"/>
              </a:rPr>
            </a:br>
            <a:endParaRPr lang="en-IN" u="sng">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0694BB75-8D68-4B37-03C1-0AEB5632EA23}"/>
              </a:ext>
            </a:extLst>
          </p:cNvPr>
          <p:cNvPicPr>
            <a:picLocks noChangeAspect="1"/>
          </p:cNvPicPr>
          <p:nvPr/>
        </p:nvPicPr>
        <p:blipFill>
          <a:blip r:embed="rId2"/>
          <a:stretch>
            <a:fillRect/>
          </a:stretch>
        </p:blipFill>
        <p:spPr>
          <a:xfrm>
            <a:off x="1489738" y="1513707"/>
            <a:ext cx="9212522" cy="4612743"/>
          </a:xfrm>
          <a:prstGeom prst="rect">
            <a:avLst/>
          </a:prstGeom>
        </p:spPr>
      </p:pic>
      <p:sp>
        <p:nvSpPr>
          <p:cNvPr id="5" name="TextBox 4">
            <a:extLst>
              <a:ext uri="{FF2B5EF4-FFF2-40B4-BE49-F238E27FC236}">
                <a16:creationId xmlns:a16="http://schemas.microsoft.com/office/drawing/2014/main" id="{A370AC2D-7E3F-4648-2129-6A2F3345D198}"/>
              </a:ext>
            </a:extLst>
          </p:cNvPr>
          <p:cNvSpPr txBox="1"/>
          <p:nvPr/>
        </p:nvSpPr>
        <p:spPr>
          <a:xfrm>
            <a:off x="1673805" y="1136526"/>
            <a:ext cx="1645002" cy="369332"/>
          </a:xfrm>
          <a:prstGeom prst="rect">
            <a:avLst/>
          </a:prstGeom>
          <a:noFill/>
        </p:spPr>
        <p:txBody>
          <a:bodyPr wrap="none" lIns="91440" tIns="45720" rIns="91440" bIns="45720" rtlCol="0" anchor="t">
            <a:spAutoFit/>
          </a:bodyPr>
          <a:lstStyle/>
          <a:p>
            <a:r>
              <a:rPr lang="en-IN"/>
              <a:t>1. </a:t>
            </a:r>
            <a:r>
              <a:rPr lang="en-IN" b="1" u="sng"/>
              <a:t>Schematic</a:t>
            </a:r>
          </a:p>
        </p:txBody>
      </p:sp>
    </p:spTree>
    <p:extLst>
      <p:ext uri="{BB962C8B-B14F-4D97-AF65-F5344CB8AC3E}">
        <p14:creationId xmlns:p14="http://schemas.microsoft.com/office/powerpoint/2010/main" val="3973488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FF4A0-CA2B-0697-A5BE-A420434AF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A6802-5AA8-72B1-4915-FA16089E3F99}"/>
              </a:ext>
            </a:extLst>
          </p:cNvPr>
          <p:cNvSpPr>
            <a:spLocks noGrp="1"/>
          </p:cNvSpPr>
          <p:nvPr>
            <p:ph type="title"/>
          </p:nvPr>
        </p:nvSpPr>
        <p:spPr>
          <a:xfrm>
            <a:off x="838200" y="188144"/>
            <a:ext cx="10515600" cy="1325563"/>
          </a:xfrm>
        </p:spPr>
        <p:txBody>
          <a:bodyPr/>
          <a:lstStyle/>
          <a:p>
            <a:pPr algn="ctr"/>
            <a:r>
              <a:rPr lang="en-IN" u="sng">
                <a:latin typeface="Cambria" panose="02040503050406030204" pitchFamily="18" charset="0"/>
                <a:ea typeface="Cambria" panose="02040503050406030204" pitchFamily="18" charset="0"/>
              </a:rPr>
              <a:t>IEEE 754 FLOATING POINT IP DIVIDER</a:t>
            </a:r>
            <a:br>
              <a:rPr lang="en-IN" u="sng">
                <a:latin typeface="Cambria" panose="02040503050406030204" pitchFamily="18" charset="0"/>
                <a:ea typeface="Cambria" panose="02040503050406030204" pitchFamily="18" charset="0"/>
              </a:rPr>
            </a:br>
            <a:endParaRPr lang="en-IN" u="sng">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61245C3B-6275-1BBC-62DC-50E2DD2F247E}"/>
              </a:ext>
            </a:extLst>
          </p:cNvPr>
          <p:cNvSpPr txBox="1"/>
          <p:nvPr/>
        </p:nvSpPr>
        <p:spPr>
          <a:xfrm>
            <a:off x="1371424" y="1269573"/>
            <a:ext cx="1606530" cy="369332"/>
          </a:xfrm>
          <a:prstGeom prst="rect">
            <a:avLst/>
          </a:prstGeom>
          <a:noFill/>
        </p:spPr>
        <p:txBody>
          <a:bodyPr wrap="none" lIns="91440" tIns="45720" rIns="91440" bIns="45720" rtlCol="0" anchor="t">
            <a:spAutoFit/>
          </a:bodyPr>
          <a:lstStyle/>
          <a:p>
            <a:r>
              <a:rPr lang="en-IN"/>
              <a:t>2. </a:t>
            </a:r>
            <a:r>
              <a:rPr lang="en-IN" b="1" u="sng"/>
              <a:t>Waveform</a:t>
            </a:r>
          </a:p>
        </p:txBody>
      </p:sp>
      <p:pic>
        <p:nvPicPr>
          <p:cNvPr id="3" name="Picture 2">
            <a:extLst>
              <a:ext uri="{FF2B5EF4-FFF2-40B4-BE49-F238E27FC236}">
                <a16:creationId xmlns:a16="http://schemas.microsoft.com/office/drawing/2014/main" id="{0E76E018-8838-D692-7396-690E6313E1DB}"/>
              </a:ext>
            </a:extLst>
          </p:cNvPr>
          <p:cNvPicPr>
            <a:picLocks noChangeAspect="1"/>
          </p:cNvPicPr>
          <p:nvPr/>
        </p:nvPicPr>
        <p:blipFill>
          <a:blip r:embed="rId2"/>
          <a:stretch>
            <a:fillRect/>
          </a:stretch>
        </p:blipFill>
        <p:spPr>
          <a:xfrm>
            <a:off x="1678202" y="1641526"/>
            <a:ext cx="8835595" cy="4533548"/>
          </a:xfrm>
          <a:prstGeom prst="rect">
            <a:avLst/>
          </a:prstGeom>
        </p:spPr>
      </p:pic>
    </p:spTree>
    <p:extLst>
      <p:ext uri="{BB962C8B-B14F-4D97-AF65-F5344CB8AC3E}">
        <p14:creationId xmlns:p14="http://schemas.microsoft.com/office/powerpoint/2010/main" val="1601458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C5D5-9F29-6E3D-6553-ADC686325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7A735-F141-72EE-80E3-50E4EDAB7150}"/>
              </a:ext>
            </a:extLst>
          </p:cNvPr>
          <p:cNvSpPr>
            <a:spLocks noGrp="1"/>
          </p:cNvSpPr>
          <p:nvPr>
            <p:ph type="title"/>
          </p:nvPr>
        </p:nvSpPr>
        <p:spPr>
          <a:xfrm>
            <a:off x="838200" y="188144"/>
            <a:ext cx="10515600" cy="1325563"/>
          </a:xfrm>
        </p:spPr>
        <p:txBody>
          <a:bodyPr/>
          <a:lstStyle/>
          <a:p>
            <a:pPr algn="ctr"/>
            <a:r>
              <a:rPr lang="en-IN" u="sng">
                <a:latin typeface="Cambria" panose="02040503050406030204" pitchFamily="18" charset="0"/>
                <a:ea typeface="Cambria" panose="02040503050406030204" pitchFamily="18" charset="0"/>
              </a:rPr>
              <a:t>IEEE 754 FLOATING POINT IP DIVIDER</a:t>
            </a:r>
            <a:br>
              <a:rPr lang="en-IN" u="sng">
                <a:latin typeface="Cambria" panose="02040503050406030204" pitchFamily="18" charset="0"/>
                <a:ea typeface="Cambria" panose="02040503050406030204" pitchFamily="18" charset="0"/>
              </a:rPr>
            </a:br>
            <a:endParaRPr lang="en-IN" u="sng">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331763C-D6BA-C4E8-559B-85892EFAD3F0}"/>
              </a:ext>
            </a:extLst>
          </p:cNvPr>
          <p:cNvSpPr txBox="1"/>
          <p:nvPr/>
        </p:nvSpPr>
        <p:spPr>
          <a:xfrm>
            <a:off x="886581" y="1337899"/>
            <a:ext cx="2688761" cy="381427"/>
          </a:xfrm>
          <a:prstGeom prst="rect">
            <a:avLst/>
          </a:prstGeom>
          <a:noFill/>
        </p:spPr>
        <p:txBody>
          <a:bodyPr wrap="square" lIns="91440" tIns="45720" rIns="91440" bIns="45720" rtlCol="0" anchor="t">
            <a:spAutoFit/>
          </a:bodyPr>
          <a:lstStyle/>
          <a:p>
            <a:r>
              <a:rPr lang="en-IN"/>
              <a:t>3. </a:t>
            </a:r>
            <a:r>
              <a:rPr lang="en-IN" b="1" u="sng"/>
              <a:t>TCL Console Output</a:t>
            </a:r>
          </a:p>
        </p:txBody>
      </p:sp>
      <p:pic>
        <p:nvPicPr>
          <p:cNvPr id="4" name="Picture 3">
            <a:extLst>
              <a:ext uri="{FF2B5EF4-FFF2-40B4-BE49-F238E27FC236}">
                <a16:creationId xmlns:a16="http://schemas.microsoft.com/office/drawing/2014/main" id="{568AD949-9447-CAA8-DA69-AF87BFB55FFE}"/>
              </a:ext>
            </a:extLst>
          </p:cNvPr>
          <p:cNvPicPr>
            <a:picLocks noChangeAspect="1"/>
          </p:cNvPicPr>
          <p:nvPr/>
        </p:nvPicPr>
        <p:blipFill>
          <a:blip r:embed="rId2"/>
          <a:stretch>
            <a:fillRect/>
          </a:stretch>
        </p:blipFill>
        <p:spPr>
          <a:xfrm>
            <a:off x="881951" y="1973861"/>
            <a:ext cx="10428097" cy="2752961"/>
          </a:xfrm>
          <a:prstGeom prst="rect">
            <a:avLst/>
          </a:prstGeom>
        </p:spPr>
      </p:pic>
    </p:spTree>
    <p:extLst>
      <p:ext uri="{BB962C8B-B14F-4D97-AF65-F5344CB8AC3E}">
        <p14:creationId xmlns:p14="http://schemas.microsoft.com/office/powerpoint/2010/main" val="1831565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19E37-6787-E916-81F2-C319B6A14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AB2A7-F6C0-B3B9-CA82-7CD02E573E6A}"/>
              </a:ext>
            </a:extLst>
          </p:cNvPr>
          <p:cNvSpPr>
            <a:spLocks noGrp="1"/>
          </p:cNvSpPr>
          <p:nvPr>
            <p:ph type="title"/>
          </p:nvPr>
        </p:nvSpPr>
        <p:spPr>
          <a:xfrm>
            <a:off x="838200" y="188144"/>
            <a:ext cx="10515600" cy="1325563"/>
          </a:xfrm>
        </p:spPr>
        <p:txBody>
          <a:bodyPr/>
          <a:lstStyle/>
          <a:p>
            <a:pPr algn="ctr"/>
            <a:r>
              <a:rPr lang="en-IN" u="sng">
                <a:latin typeface="Cambria" panose="02040503050406030204" pitchFamily="18" charset="0"/>
                <a:ea typeface="Cambria" panose="02040503050406030204" pitchFamily="18" charset="0"/>
              </a:rPr>
              <a:t>IEEE 754 FLOATING POINT IP DIVIDER</a:t>
            </a:r>
            <a:br>
              <a:rPr lang="en-IN" u="sng">
                <a:latin typeface="Cambria" panose="02040503050406030204" pitchFamily="18" charset="0"/>
                <a:ea typeface="Cambria" panose="02040503050406030204" pitchFamily="18" charset="0"/>
              </a:rPr>
            </a:br>
            <a:endParaRPr lang="en-IN" u="sng">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D37475C7-1E8E-6B1C-574A-13264E45FC75}"/>
              </a:ext>
            </a:extLst>
          </p:cNvPr>
          <p:cNvSpPr txBox="1"/>
          <p:nvPr/>
        </p:nvSpPr>
        <p:spPr>
          <a:xfrm>
            <a:off x="1758471" y="1015573"/>
            <a:ext cx="3243760" cy="369332"/>
          </a:xfrm>
          <a:prstGeom prst="rect">
            <a:avLst/>
          </a:prstGeom>
          <a:noFill/>
        </p:spPr>
        <p:txBody>
          <a:bodyPr wrap="square" lIns="91440" tIns="45720" rIns="91440" bIns="45720" rtlCol="0" anchor="t">
            <a:spAutoFit/>
          </a:bodyPr>
          <a:lstStyle/>
          <a:p>
            <a:r>
              <a:rPr lang="en-IN"/>
              <a:t>4. </a:t>
            </a:r>
            <a:r>
              <a:rPr lang="en-IN" b="1" u="sng"/>
              <a:t>Design Timing Summary</a:t>
            </a:r>
          </a:p>
        </p:txBody>
      </p:sp>
      <p:pic>
        <p:nvPicPr>
          <p:cNvPr id="4" name="Picture 3">
            <a:extLst>
              <a:ext uri="{FF2B5EF4-FFF2-40B4-BE49-F238E27FC236}">
                <a16:creationId xmlns:a16="http://schemas.microsoft.com/office/drawing/2014/main" id="{B5F1F27B-307C-0DCA-F248-23B73F411784}"/>
              </a:ext>
            </a:extLst>
          </p:cNvPr>
          <p:cNvPicPr>
            <a:picLocks noChangeAspect="1"/>
          </p:cNvPicPr>
          <p:nvPr/>
        </p:nvPicPr>
        <p:blipFill>
          <a:blip r:embed="rId2"/>
          <a:stretch>
            <a:fillRect/>
          </a:stretch>
        </p:blipFill>
        <p:spPr>
          <a:xfrm>
            <a:off x="1769381" y="1614466"/>
            <a:ext cx="8653238" cy="4526724"/>
          </a:xfrm>
          <a:prstGeom prst="rect">
            <a:avLst/>
          </a:prstGeom>
        </p:spPr>
      </p:pic>
    </p:spTree>
    <p:extLst>
      <p:ext uri="{BB962C8B-B14F-4D97-AF65-F5344CB8AC3E}">
        <p14:creationId xmlns:p14="http://schemas.microsoft.com/office/powerpoint/2010/main" val="1387412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62170-40DC-AEBB-4E0C-6990000C6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FFB52-EC15-D1EA-9A2C-A7F64AE12FF7}"/>
              </a:ext>
            </a:extLst>
          </p:cNvPr>
          <p:cNvSpPr>
            <a:spLocks noGrp="1"/>
          </p:cNvSpPr>
          <p:nvPr>
            <p:ph type="title"/>
          </p:nvPr>
        </p:nvSpPr>
        <p:spPr>
          <a:xfrm>
            <a:off x="838200" y="188144"/>
            <a:ext cx="10515600" cy="1325563"/>
          </a:xfrm>
        </p:spPr>
        <p:txBody>
          <a:bodyPr/>
          <a:lstStyle/>
          <a:p>
            <a:pPr algn="ctr"/>
            <a:r>
              <a:rPr lang="en-IN" u="sng">
                <a:latin typeface="Cambria" panose="02040503050406030204" pitchFamily="18" charset="0"/>
                <a:ea typeface="Cambria" panose="02040503050406030204" pitchFamily="18" charset="0"/>
              </a:rPr>
              <a:t>IEEE 754 FLOATING POINT IP DIVIDER</a:t>
            </a:r>
            <a:br>
              <a:rPr lang="en-IN" u="sng">
                <a:latin typeface="Cambria" panose="02040503050406030204" pitchFamily="18" charset="0"/>
                <a:ea typeface="Cambria" panose="02040503050406030204" pitchFamily="18" charset="0"/>
              </a:rPr>
            </a:br>
            <a:endParaRPr lang="en-IN" u="sng">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E1C10380-CDF0-849D-B699-F3CA326B866F}"/>
              </a:ext>
            </a:extLst>
          </p:cNvPr>
          <p:cNvSpPr txBox="1"/>
          <p:nvPr/>
        </p:nvSpPr>
        <p:spPr>
          <a:xfrm>
            <a:off x="802948" y="1003478"/>
            <a:ext cx="1364925" cy="369332"/>
          </a:xfrm>
          <a:prstGeom prst="rect">
            <a:avLst/>
          </a:prstGeom>
          <a:noFill/>
        </p:spPr>
        <p:txBody>
          <a:bodyPr wrap="none" rtlCol="0">
            <a:spAutoFit/>
          </a:bodyPr>
          <a:lstStyle/>
          <a:p>
            <a:r>
              <a:rPr lang="en-IN"/>
              <a:t>5. Utilization</a:t>
            </a:r>
          </a:p>
        </p:txBody>
      </p:sp>
      <p:pic>
        <p:nvPicPr>
          <p:cNvPr id="3" name="Picture 2">
            <a:extLst>
              <a:ext uri="{FF2B5EF4-FFF2-40B4-BE49-F238E27FC236}">
                <a16:creationId xmlns:a16="http://schemas.microsoft.com/office/drawing/2014/main" id="{6C65AF29-91E2-FF80-084A-88F86C496F98}"/>
              </a:ext>
            </a:extLst>
          </p:cNvPr>
          <p:cNvPicPr>
            <a:picLocks noChangeAspect="1"/>
          </p:cNvPicPr>
          <p:nvPr/>
        </p:nvPicPr>
        <p:blipFill>
          <a:blip r:embed="rId2"/>
          <a:stretch>
            <a:fillRect/>
          </a:stretch>
        </p:blipFill>
        <p:spPr>
          <a:xfrm>
            <a:off x="2311400" y="1513707"/>
            <a:ext cx="7569200" cy="4719313"/>
          </a:xfrm>
          <a:prstGeom prst="rect">
            <a:avLst/>
          </a:prstGeom>
        </p:spPr>
      </p:pic>
    </p:spTree>
    <p:extLst>
      <p:ext uri="{BB962C8B-B14F-4D97-AF65-F5344CB8AC3E}">
        <p14:creationId xmlns:p14="http://schemas.microsoft.com/office/powerpoint/2010/main" val="3642774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16011-79FC-3A70-4847-6FEFDA4A6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9DC34-EB96-FBCB-57E5-14C858455A24}"/>
              </a:ext>
            </a:extLst>
          </p:cNvPr>
          <p:cNvSpPr>
            <a:spLocks noGrp="1"/>
          </p:cNvSpPr>
          <p:nvPr>
            <p:ph type="title"/>
          </p:nvPr>
        </p:nvSpPr>
        <p:spPr>
          <a:xfrm>
            <a:off x="838200" y="188144"/>
            <a:ext cx="10515600" cy="1325563"/>
          </a:xfrm>
        </p:spPr>
        <p:txBody>
          <a:bodyPr/>
          <a:lstStyle/>
          <a:p>
            <a:pPr algn="ctr"/>
            <a:r>
              <a:rPr lang="en-IN" b="1" u="sng">
                <a:latin typeface="Cambria" panose="02040503050406030204" pitchFamily="18" charset="0"/>
                <a:ea typeface="Cambria" panose="02040503050406030204" pitchFamily="18" charset="0"/>
              </a:rPr>
              <a:t>IEEE 754 FLOATING POINT IP DIVIDER</a:t>
            </a:r>
            <a:br>
              <a:rPr lang="en-IN" b="1" u="sng">
                <a:latin typeface="Cambria" panose="02040503050406030204" pitchFamily="18" charset="0"/>
                <a:ea typeface="Cambria" panose="02040503050406030204" pitchFamily="18" charset="0"/>
              </a:rPr>
            </a:br>
            <a:endParaRPr lang="en-IN" b="1" u="sng">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8683A636-4367-A855-38E5-67A399F286CB}"/>
              </a:ext>
            </a:extLst>
          </p:cNvPr>
          <p:cNvSpPr txBox="1"/>
          <p:nvPr/>
        </p:nvSpPr>
        <p:spPr>
          <a:xfrm>
            <a:off x="1746377" y="1015573"/>
            <a:ext cx="1125629" cy="369332"/>
          </a:xfrm>
          <a:prstGeom prst="rect">
            <a:avLst/>
          </a:prstGeom>
          <a:noFill/>
        </p:spPr>
        <p:txBody>
          <a:bodyPr wrap="none" rtlCol="0">
            <a:spAutoFit/>
          </a:bodyPr>
          <a:lstStyle/>
          <a:p>
            <a:r>
              <a:rPr lang="en-IN" b="1" u="sng"/>
              <a:t>6. Power</a:t>
            </a:r>
          </a:p>
        </p:txBody>
      </p:sp>
      <p:pic>
        <p:nvPicPr>
          <p:cNvPr id="4" name="Picture 3">
            <a:extLst>
              <a:ext uri="{FF2B5EF4-FFF2-40B4-BE49-F238E27FC236}">
                <a16:creationId xmlns:a16="http://schemas.microsoft.com/office/drawing/2014/main" id="{A1626D7E-EB27-6BB0-62E6-A1BEC582A098}"/>
              </a:ext>
            </a:extLst>
          </p:cNvPr>
          <p:cNvPicPr>
            <a:picLocks noChangeAspect="1"/>
          </p:cNvPicPr>
          <p:nvPr/>
        </p:nvPicPr>
        <p:blipFill>
          <a:blip r:embed="rId2"/>
          <a:stretch>
            <a:fillRect/>
          </a:stretch>
        </p:blipFill>
        <p:spPr>
          <a:xfrm>
            <a:off x="1745730" y="1583392"/>
            <a:ext cx="8700540" cy="4545448"/>
          </a:xfrm>
          <a:prstGeom prst="rect">
            <a:avLst/>
          </a:prstGeom>
        </p:spPr>
      </p:pic>
    </p:spTree>
    <p:extLst>
      <p:ext uri="{BB962C8B-B14F-4D97-AF65-F5344CB8AC3E}">
        <p14:creationId xmlns:p14="http://schemas.microsoft.com/office/powerpoint/2010/main" val="1652493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C3AC-6209-A72B-498E-323CEEB91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6E8D8-8501-0A6A-1D73-B677257626A1}"/>
              </a:ext>
            </a:extLst>
          </p:cNvPr>
          <p:cNvSpPr>
            <a:spLocks noGrp="1"/>
          </p:cNvSpPr>
          <p:nvPr>
            <p:ph type="title"/>
          </p:nvPr>
        </p:nvSpPr>
        <p:spPr>
          <a:xfrm>
            <a:off x="838200" y="188144"/>
            <a:ext cx="10515600" cy="1325563"/>
          </a:xfrm>
        </p:spPr>
        <p:txBody>
          <a:bodyPr/>
          <a:lstStyle/>
          <a:p>
            <a:pPr algn="ctr"/>
            <a:r>
              <a:rPr lang="en-IN" u="sng">
                <a:latin typeface="Cambria" panose="02040503050406030204" pitchFamily="18" charset="0"/>
                <a:ea typeface="Cambria" panose="02040503050406030204" pitchFamily="18" charset="0"/>
              </a:rPr>
              <a:t>IEEE 754 FLOATING POINT IP DIVIDER</a:t>
            </a:r>
            <a:br>
              <a:rPr lang="en-IN" u="sng">
                <a:latin typeface="Cambria" panose="02040503050406030204" pitchFamily="18" charset="0"/>
                <a:ea typeface="Cambria" panose="02040503050406030204" pitchFamily="18" charset="0"/>
              </a:rPr>
            </a:br>
            <a:endParaRPr lang="en-IN" u="sng">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BD95EE2-F2E9-435D-679A-39658CFC4D5F}"/>
              </a:ext>
            </a:extLst>
          </p:cNvPr>
          <p:cNvSpPr txBox="1"/>
          <p:nvPr/>
        </p:nvSpPr>
        <p:spPr>
          <a:xfrm>
            <a:off x="1020662" y="1112335"/>
            <a:ext cx="11173565" cy="1200329"/>
          </a:xfrm>
          <a:prstGeom prst="rect">
            <a:avLst/>
          </a:prstGeom>
          <a:noFill/>
        </p:spPr>
        <p:txBody>
          <a:bodyPr wrap="square" lIns="91440" tIns="45720" rIns="91440" bIns="45720" rtlCol="0" anchor="t">
            <a:spAutoFit/>
          </a:bodyPr>
          <a:lstStyle/>
          <a:p>
            <a:r>
              <a:rPr lang="en-IN"/>
              <a:t>         7. </a:t>
            </a:r>
            <a:r>
              <a:rPr lang="en-IN" b="1" u="sng"/>
              <a:t>Critical Path</a:t>
            </a:r>
          </a:p>
          <a:p>
            <a:pPr lvl="1"/>
            <a:r>
              <a:rPr lang="en-IN"/>
              <a:t>This path determines Fmax (maximum operating clock frequency). This is the bottleneck timing path of the design. The clock period must be longer than this delay.</a:t>
            </a:r>
          </a:p>
          <a:p>
            <a:endParaRPr lang="en-IN"/>
          </a:p>
        </p:txBody>
      </p:sp>
      <p:pic>
        <p:nvPicPr>
          <p:cNvPr id="3" name="Picture 2">
            <a:extLst>
              <a:ext uri="{FF2B5EF4-FFF2-40B4-BE49-F238E27FC236}">
                <a16:creationId xmlns:a16="http://schemas.microsoft.com/office/drawing/2014/main" id="{598283BA-BB95-FF0C-C12F-A73F564EEF87}"/>
              </a:ext>
            </a:extLst>
          </p:cNvPr>
          <p:cNvPicPr>
            <a:picLocks noChangeAspect="1"/>
          </p:cNvPicPr>
          <p:nvPr/>
        </p:nvPicPr>
        <p:blipFill>
          <a:blip r:embed="rId2"/>
          <a:stretch>
            <a:fillRect/>
          </a:stretch>
        </p:blipFill>
        <p:spPr>
          <a:xfrm>
            <a:off x="1532175" y="2203807"/>
            <a:ext cx="9182920" cy="3946174"/>
          </a:xfrm>
          <a:prstGeom prst="rect">
            <a:avLst/>
          </a:prstGeom>
        </p:spPr>
      </p:pic>
    </p:spTree>
    <p:extLst>
      <p:ext uri="{BB962C8B-B14F-4D97-AF65-F5344CB8AC3E}">
        <p14:creationId xmlns:p14="http://schemas.microsoft.com/office/powerpoint/2010/main" val="1104694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274D4-2220-3A3B-7E1A-1E4DBD163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2D21D-2E19-7724-51AB-EAC1519966E0}"/>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125541AF-B3C4-928C-FD20-00DA0A20FB74}"/>
              </a:ext>
            </a:extLst>
          </p:cNvPr>
          <p:cNvSpPr txBox="1"/>
          <p:nvPr/>
        </p:nvSpPr>
        <p:spPr>
          <a:xfrm>
            <a:off x="1572888" y="1180908"/>
            <a:ext cx="9780912" cy="5509200"/>
          </a:xfrm>
          <a:prstGeom prst="rect">
            <a:avLst/>
          </a:prstGeom>
          <a:noFill/>
        </p:spPr>
        <p:txBody>
          <a:bodyPr wrap="square" lIns="91440" tIns="45720" rIns="91440" bIns="45720" rtlCol="0" anchor="t">
            <a:spAutoFit/>
          </a:bodyPr>
          <a:lstStyle/>
          <a:p>
            <a:r>
              <a:rPr lang="en-IN" sz="1600" b="1" u="sng"/>
              <a:t>Logic explanation using an example:</a:t>
            </a:r>
          </a:p>
          <a:p>
            <a:endParaRPr lang="en-IN" sz="1600" b="1" u="sng"/>
          </a:p>
          <a:p>
            <a:pPr marL="342900" indent="-342900">
              <a:buFont typeface="+mj-lt"/>
              <a:buAutoNum type="arabicPeriod"/>
            </a:pPr>
            <a:r>
              <a:rPr lang="en-US" sz="1600" b="1"/>
              <a:t>Convert operands to IEEE-754</a:t>
            </a:r>
            <a:endParaRPr lang="en-US" sz="1600"/>
          </a:p>
          <a:p>
            <a:r>
              <a:rPr lang="en-US" sz="1600"/>
              <a:t>	A = 6.0 → 0x40C00000</a:t>
            </a:r>
          </a:p>
          <a:p>
            <a:r>
              <a:rPr lang="en-US" sz="1600"/>
              <a:t>	B = 2.0 → 0x40000000</a:t>
            </a:r>
          </a:p>
          <a:p>
            <a:r>
              <a:rPr lang="en-US" sz="1600" b="1"/>
              <a:t>2. (-1)^sign × (1.mantissa) × 2^(exponent − 127)</a:t>
            </a:r>
          </a:p>
          <a:p>
            <a:r>
              <a:rPr lang="en-IN" sz="1600" b="1"/>
              <a:t>3. Extract fields</a:t>
            </a:r>
            <a:endParaRPr lang="en-IN" sz="1600"/>
          </a:p>
          <a:p>
            <a:r>
              <a:rPr lang="en-IN" sz="1600"/>
              <a:t>	</a:t>
            </a:r>
            <a:r>
              <a:rPr lang="en-IN" sz="1600" err="1"/>
              <a:t>signA</a:t>
            </a:r>
            <a:r>
              <a:rPr lang="en-IN" sz="1600"/>
              <a:t> = 0, </a:t>
            </a:r>
            <a:r>
              <a:rPr lang="en-IN" sz="1600" err="1"/>
              <a:t>exponentA</a:t>
            </a:r>
            <a:r>
              <a:rPr lang="en-IN" sz="1600"/>
              <a:t> = 129, </a:t>
            </a:r>
            <a:r>
              <a:rPr lang="en-IN" sz="1600" err="1"/>
              <a:t>mantissaA</a:t>
            </a:r>
            <a:r>
              <a:rPr lang="en-IN" sz="1600"/>
              <a:t> = 1.100000…</a:t>
            </a:r>
          </a:p>
          <a:p>
            <a:r>
              <a:rPr lang="en-IN" sz="1600"/>
              <a:t>	</a:t>
            </a:r>
            <a:r>
              <a:rPr lang="en-IN" sz="1600" err="1"/>
              <a:t>signB</a:t>
            </a:r>
            <a:r>
              <a:rPr lang="en-IN" sz="1600"/>
              <a:t> = 0, </a:t>
            </a:r>
            <a:r>
              <a:rPr lang="en-IN" sz="1600" err="1"/>
              <a:t>exponentB</a:t>
            </a:r>
            <a:r>
              <a:rPr lang="en-IN" sz="1600"/>
              <a:t> = 128, </a:t>
            </a:r>
            <a:r>
              <a:rPr lang="en-IN" sz="1600" err="1"/>
              <a:t>mantissaB</a:t>
            </a:r>
            <a:r>
              <a:rPr lang="en-IN" sz="1600"/>
              <a:t> = 1.000000…</a:t>
            </a:r>
          </a:p>
          <a:p>
            <a:r>
              <a:rPr lang="en-US" sz="1600" b="1"/>
              <a:t>4. </a:t>
            </a:r>
            <a:r>
              <a:rPr lang="en-IN" sz="1600" b="1"/>
              <a:t>Compute sign</a:t>
            </a:r>
            <a:endParaRPr lang="en-US" sz="1600" b="1"/>
          </a:p>
          <a:p>
            <a:r>
              <a:rPr lang="en-US" sz="1600"/>
              <a:t>	</a:t>
            </a:r>
            <a:r>
              <a:rPr lang="sv-SE" sz="1600"/>
              <a:t>sign = signA XOR signB = 0</a:t>
            </a:r>
          </a:p>
          <a:p>
            <a:r>
              <a:rPr lang="en-US" sz="1600" b="1"/>
              <a:t>5. </a:t>
            </a:r>
            <a:r>
              <a:rPr lang="en-IN" sz="1600" b="1"/>
              <a:t>Compute exponent</a:t>
            </a:r>
          </a:p>
          <a:p>
            <a:r>
              <a:rPr lang="en-IN" sz="1600"/>
              <a:t>	real exponent = </a:t>
            </a:r>
            <a:r>
              <a:rPr lang="en-IN" sz="1600" err="1"/>
              <a:t>exponentA</a:t>
            </a:r>
            <a:r>
              <a:rPr lang="en-IN" sz="1600"/>
              <a:t> − </a:t>
            </a:r>
            <a:r>
              <a:rPr lang="en-IN" sz="1600" err="1"/>
              <a:t>exponentB</a:t>
            </a:r>
            <a:r>
              <a:rPr lang="en-IN" sz="1600"/>
              <a:t> = 129 − 128 = 1</a:t>
            </a:r>
          </a:p>
          <a:p>
            <a:r>
              <a:rPr lang="en-IN" sz="1600"/>
              <a:t>	stored exponent = real exponent + 127 = 1 + 127 = 128 = 0b10000000</a:t>
            </a:r>
          </a:p>
          <a:p>
            <a:r>
              <a:rPr lang="en-US" sz="1600" b="1"/>
              <a:t>6. </a:t>
            </a:r>
            <a:r>
              <a:rPr lang="en-IN" sz="1600" b="1"/>
              <a:t>Mantissa division</a:t>
            </a:r>
          </a:p>
          <a:p>
            <a:r>
              <a:rPr lang="en-IN" sz="1600"/>
              <a:t>	1.100000… ÷ 1.000000… = 1.100000…</a:t>
            </a:r>
          </a:p>
          <a:p>
            <a:r>
              <a:rPr lang="en-US" sz="1600"/>
              <a:t>	fraction field = 10000000000000000000000</a:t>
            </a:r>
          </a:p>
          <a:p>
            <a:r>
              <a:rPr lang="en-US" sz="1600" b="1"/>
              <a:t>7. </a:t>
            </a:r>
            <a:r>
              <a:rPr lang="en-IN" sz="1600" b="1"/>
              <a:t>Reassemble result</a:t>
            </a:r>
            <a:endParaRPr lang="en-IN" sz="1600" b="1" u="sng"/>
          </a:p>
          <a:p>
            <a:pPr lvl="2"/>
            <a:r>
              <a:rPr lang="en-US" sz="1600"/>
              <a:t>sign | exponent | mantissa</a:t>
            </a:r>
          </a:p>
          <a:p>
            <a:pPr lvl="2"/>
            <a:r>
              <a:rPr lang="en-US" sz="1600"/>
              <a:t> 0   | 10000000 | 10000000000000000000000</a:t>
            </a:r>
          </a:p>
          <a:p>
            <a:pPr lvl="2"/>
            <a:r>
              <a:rPr lang="en-US" sz="1600"/>
              <a:t>= 0x40400000 = 3.0 (Hexadecimal representation)</a:t>
            </a:r>
          </a:p>
          <a:p>
            <a:endParaRPr lang="en-US" sz="1600" b="1"/>
          </a:p>
        </p:txBody>
      </p:sp>
    </p:spTree>
    <p:extLst>
      <p:ext uri="{BB962C8B-B14F-4D97-AF65-F5344CB8AC3E}">
        <p14:creationId xmlns:p14="http://schemas.microsoft.com/office/powerpoint/2010/main" val="1520413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0A04D-53E1-0656-D37C-9C23D4B72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B66B9-929B-DA12-AD43-96404B041C7B}"/>
              </a:ext>
            </a:extLst>
          </p:cNvPr>
          <p:cNvSpPr>
            <a:spLocks noGrp="1"/>
          </p:cNvSpPr>
          <p:nvPr>
            <p:ph type="title"/>
          </p:nvPr>
        </p:nvSpPr>
        <p:spPr>
          <a:xfrm>
            <a:off x="2282122" y="313457"/>
            <a:ext cx="7627755" cy="650105"/>
          </a:xfrm>
        </p:spPr>
        <p:txBody>
          <a:bodyPr>
            <a:normAutofit fontScale="90000"/>
          </a:bodyPr>
          <a:lstStyle/>
          <a:p>
            <a:r>
              <a:rPr lang="en-US" sz="2800" b="1" u="sng"/>
              <a:t>FSM Stages for Non-Pipeline Subtractive Divider</a:t>
            </a:r>
          </a:p>
        </p:txBody>
      </p:sp>
      <p:graphicFrame>
        <p:nvGraphicFramePr>
          <p:cNvPr id="6" name="Table 5">
            <a:extLst>
              <a:ext uri="{FF2B5EF4-FFF2-40B4-BE49-F238E27FC236}">
                <a16:creationId xmlns:a16="http://schemas.microsoft.com/office/drawing/2014/main" id="{490D15C1-5B6A-531F-508B-B2B2C6FBD982}"/>
              </a:ext>
            </a:extLst>
          </p:cNvPr>
          <p:cNvGraphicFramePr>
            <a:graphicFrameLocks noGrp="1"/>
          </p:cNvGraphicFramePr>
          <p:nvPr>
            <p:extLst>
              <p:ext uri="{D42A27DB-BD31-4B8C-83A1-F6EECF244321}">
                <p14:modId xmlns:p14="http://schemas.microsoft.com/office/powerpoint/2010/main" val="3110365559"/>
              </p:ext>
            </p:extLst>
          </p:nvPr>
        </p:nvGraphicFramePr>
        <p:xfrm>
          <a:off x="1638299" y="2148110"/>
          <a:ext cx="8911688" cy="2560320"/>
        </p:xfrm>
        <a:graphic>
          <a:graphicData uri="http://schemas.openxmlformats.org/drawingml/2006/table">
            <a:tbl>
              <a:tblPr>
                <a:tableStyleId>{08FB837D-C827-4EFA-A057-4D05807E0F7C}</a:tableStyleId>
              </a:tblPr>
              <a:tblGrid>
                <a:gridCol w="4455844">
                  <a:extLst>
                    <a:ext uri="{9D8B030D-6E8A-4147-A177-3AD203B41FA5}">
                      <a16:colId xmlns:a16="http://schemas.microsoft.com/office/drawing/2014/main" val="1672964023"/>
                    </a:ext>
                  </a:extLst>
                </a:gridCol>
                <a:gridCol w="4455844">
                  <a:extLst>
                    <a:ext uri="{9D8B030D-6E8A-4147-A177-3AD203B41FA5}">
                      <a16:colId xmlns:a16="http://schemas.microsoft.com/office/drawing/2014/main" val="322435205"/>
                    </a:ext>
                  </a:extLst>
                </a:gridCol>
              </a:tblGrid>
              <a:tr h="363021">
                <a:tc>
                  <a:txBody>
                    <a:bodyPr/>
                    <a:lstStyle/>
                    <a:p>
                      <a:pPr>
                        <a:buNone/>
                      </a:pPr>
                      <a:r>
                        <a:rPr lang="en-IN"/>
                        <a:t>State</a:t>
                      </a:r>
                    </a:p>
                  </a:txBody>
                  <a:tcPr anchor="ctr"/>
                </a:tc>
                <a:tc>
                  <a:txBody>
                    <a:bodyPr/>
                    <a:lstStyle/>
                    <a:p>
                      <a:pPr>
                        <a:buNone/>
                      </a:pPr>
                      <a:r>
                        <a:rPr lang="en-IN"/>
                        <a:t>Function</a:t>
                      </a:r>
                    </a:p>
                  </a:txBody>
                  <a:tcPr anchor="ctr"/>
                </a:tc>
                <a:extLst>
                  <a:ext uri="{0D108BD9-81ED-4DB2-BD59-A6C34878D82A}">
                    <a16:rowId xmlns:a16="http://schemas.microsoft.com/office/drawing/2014/main" val="3502418445"/>
                  </a:ext>
                </a:extLst>
              </a:tr>
              <a:tr h="363021">
                <a:tc>
                  <a:txBody>
                    <a:bodyPr/>
                    <a:lstStyle/>
                    <a:p>
                      <a:pPr>
                        <a:buNone/>
                      </a:pPr>
                      <a:r>
                        <a:rPr lang="en-IN"/>
                        <a:t>S_IDLE</a:t>
                      </a:r>
                    </a:p>
                  </a:txBody>
                  <a:tcPr anchor="ctr"/>
                </a:tc>
                <a:tc>
                  <a:txBody>
                    <a:bodyPr/>
                    <a:lstStyle/>
                    <a:p>
                      <a:pPr>
                        <a:buNone/>
                      </a:pPr>
                      <a:r>
                        <a:rPr lang="en-IN"/>
                        <a:t>wait for input</a:t>
                      </a:r>
                    </a:p>
                  </a:txBody>
                  <a:tcPr anchor="ctr"/>
                </a:tc>
                <a:extLst>
                  <a:ext uri="{0D108BD9-81ED-4DB2-BD59-A6C34878D82A}">
                    <a16:rowId xmlns:a16="http://schemas.microsoft.com/office/drawing/2014/main" val="2724115071"/>
                  </a:ext>
                </a:extLst>
              </a:tr>
              <a:tr h="363021">
                <a:tc>
                  <a:txBody>
                    <a:bodyPr/>
                    <a:lstStyle/>
                    <a:p>
                      <a:pPr>
                        <a:buNone/>
                      </a:pPr>
                      <a:r>
                        <a:rPr lang="en-IN"/>
                        <a:t>S_PREP</a:t>
                      </a:r>
                    </a:p>
                  </a:txBody>
                  <a:tcPr anchor="ctr"/>
                </a:tc>
                <a:tc>
                  <a:txBody>
                    <a:bodyPr/>
                    <a:lstStyle/>
                    <a:p>
                      <a:pPr>
                        <a:buNone/>
                      </a:pPr>
                      <a:r>
                        <a:rPr lang="en-IN"/>
                        <a:t>parse IEEE754, handle specials</a:t>
                      </a:r>
                    </a:p>
                  </a:txBody>
                  <a:tcPr anchor="ctr"/>
                </a:tc>
                <a:extLst>
                  <a:ext uri="{0D108BD9-81ED-4DB2-BD59-A6C34878D82A}">
                    <a16:rowId xmlns:a16="http://schemas.microsoft.com/office/drawing/2014/main" val="3953789056"/>
                  </a:ext>
                </a:extLst>
              </a:tr>
              <a:tr h="363021">
                <a:tc>
                  <a:txBody>
                    <a:bodyPr/>
                    <a:lstStyle/>
                    <a:p>
                      <a:pPr>
                        <a:buNone/>
                      </a:pPr>
                      <a:r>
                        <a:rPr lang="en-IN"/>
                        <a:t>S_LOAD</a:t>
                      </a:r>
                    </a:p>
                  </a:txBody>
                  <a:tcPr anchor="ctr"/>
                </a:tc>
                <a:tc>
                  <a:txBody>
                    <a:bodyPr/>
                    <a:lstStyle/>
                    <a:p>
                      <a:pPr>
                        <a:buNone/>
                      </a:pPr>
                      <a:r>
                        <a:rPr lang="en-IN"/>
                        <a:t>initialize divider</a:t>
                      </a:r>
                    </a:p>
                  </a:txBody>
                  <a:tcPr anchor="ctr"/>
                </a:tc>
                <a:extLst>
                  <a:ext uri="{0D108BD9-81ED-4DB2-BD59-A6C34878D82A}">
                    <a16:rowId xmlns:a16="http://schemas.microsoft.com/office/drawing/2014/main" val="4086675349"/>
                  </a:ext>
                </a:extLst>
              </a:tr>
              <a:tr h="363021">
                <a:tc>
                  <a:txBody>
                    <a:bodyPr/>
                    <a:lstStyle/>
                    <a:p>
                      <a:pPr>
                        <a:buNone/>
                      </a:pPr>
                      <a:r>
                        <a:rPr lang="en-IN"/>
                        <a:t>S_ITER</a:t>
                      </a:r>
                    </a:p>
                  </a:txBody>
                  <a:tcPr anchor="ctr"/>
                </a:tc>
                <a:tc>
                  <a:txBody>
                    <a:bodyPr/>
                    <a:lstStyle/>
                    <a:p>
                      <a:pPr>
                        <a:buNone/>
                      </a:pPr>
                      <a:r>
                        <a:rPr lang="en-IN"/>
                        <a:t>24-cycle mantissa division</a:t>
                      </a:r>
                    </a:p>
                  </a:txBody>
                  <a:tcPr anchor="ctr"/>
                </a:tc>
                <a:extLst>
                  <a:ext uri="{0D108BD9-81ED-4DB2-BD59-A6C34878D82A}">
                    <a16:rowId xmlns:a16="http://schemas.microsoft.com/office/drawing/2014/main" val="1367031756"/>
                  </a:ext>
                </a:extLst>
              </a:tr>
              <a:tr h="363021">
                <a:tc>
                  <a:txBody>
                    <a:bodyPr/>
                    <a:lstStyle/>
                    <a:p>
                      <a:pPr>
                        <a:buNone/>
                      </a:pPr>
                      <a:r>
                        <a:rPr lang="en-IN"/>
                        <a:t>S_NORM</a:t>
                      </a:r>
                    </a:p>
                  </a:txBody>
                  <a:tcPr anchor="ctr"/>
                </a:tc>
                <a:tc>
                  <a:txBody>
                    <a:bodyPr/>
                    <a:lstStyle/>
                    <a:p>
                      <a:pPr>
                        <a:buNone/>
                      </a:pPr>
                      <a:r>
                        <a:rPr lang="en-IN"/>
                        <a:t>normalize output</a:t>
                      </a:r>
                    </a:p>
                  </a:txBody>
                  <a:tcPr anchor="ctr"/>
                </a:tc>
                <a:extLst>
                  <a:ext uri="{0D108BD9-81ED-4DB2-BD59-A6C34878D82A}">
                    <a16:rowId xmlns:a16="http://schemas.microsoft.com/office/drawing/2014/main" val="2071848969"/>
                  </a:ext>
                </a:extLst>
              </a:tr>
              <a:tr h="363021">
                <a:tc>
                  <a:txBody>
                    <a:bodyPr/>
                    <a:lstStyle/>
                    <a:p>
                      <a:pPr>
                        <a:buNone/>
                      </a:pPr>
                      <a:r>
                        <a:rPr lang="en-IN"/>
                        <a:t>S_DONE</a:t>
                      </a:r>
                    </a:p>
                  </a:txBody>
                  <a:tcPr anchor="ctr"/>
                </a:tc>
                <a:tc>
                  <a:txBody>
                    <a:bodyPr/>
                    <a:lstStyle/>
                    <a:p>
                      <a:pPr>
                        <a:buNone/>
                      </a:pPr>
                      <a:r>
                        <a:rPr lang="en-IN"/>
                        <a:t>assert </a:t>
                      </a:r>
                      <a:r>
                        <a:rPr lang="en-IN" err="1"/>
                        <a:t>valid_out</a:t>
                      </a:r>
                      <a:endParaRPr lang="en-IN"/>
                    </a:p>
                  </a:txBody>
                  <a:tcPr anchor="ctr"/>
                </a:tc>
                <a:extLst>
                  <a:ext uri="{0D108BD9-81ED-4DB2-BD59-A6C34878D82A}">
                    <a16:rowId xmlns:a16="http://schemas.microsoft.com/office/drawing/2014/main" val="2540328640"/>
                  </a:ext>
                </a:extLst>
              </a:tr>
            </a:tbl>
          </a:graphicData>
        </a:graphic>
      </p:graphicFrame>
    </p:spTree>
    <p:extLst>
      <p:ext uri="{BB962C8B-B14F-4D97-AF65-F5344CB8AC3E}">
        <p14:creationId xmlns:p14="http://schemas.microsoft.com/office/powerpoint/2010/main" val="2071968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FCC43-AE67-6759-CF86-9DB95C6B0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34D47-06EF-3103-F17F-CFB80D71A0BA}"/>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A99949C2-0B69-8182-B20E-E998096F1C0A}"/>
              </a:ext>
            </a:extLst>
          </p:cNvPr>
          <p:cNvSpPr txBox="1"/>
          <p:nvPr/>
        </p:nvSpPr>
        <p:spPr>
          <a:xfrm>
            <a:off x="1769533" y="1004068"/>
            <a:ext cx="3271731" cy="369332"/>
          </a:xfrm>
          <a:prstGeom prst="rect">
            <a:avLst/>
          </a:prstGeom>
          <a:noFill/>
        </p:spPr>
        <p:txBody>
          <a:bodyPr wrap="square" lIns="91440" tIns="45720" rIns="91440" bIns="45720" rtlCol="0" anchor="t">
            <a:spAutoFit/>
          </a:bodyPr>
          <a:lstStyle/>
          <a:p>
            <a:r>
              <a:rPr lang="en-IN"/>
              <a:t>1. </a:t>
            </a:r>
            <a:r>
              <a:rPr lang="en-IN" b="1" u="sng"/>
              <a:t>Critical Path Schematic</a:t>
            </a:r>
          </a:p>
        </p:txBody>
      </p:sp>
      <p:pic>
        <p:nvPicPr>
          <p:cNvPr id="6" name="Picture 5">
            <a:extLst>
              <a:ext uri="{FF2B5EF4-FFF2-40B4-BE49-F238E27FC236}">
                <a16:creationId xmlns:a16="http://schemas.microsoft.com/office/drawing/2014/main" id="{64C560CF-33DA-0830-84E9-17996FEC8382}"/>
              </a:ext>
            </a:extLst>
          </p:cNvPr>
          <p:cNvPicPr>
            <a:picLocks noChangeAspect="1"/>
          </p:cNvPicPr>
          <p:nvPr/>
        </p:nvPicPr>
        <p:blipFill>
          <a:blip r:embed="rId2"/>
          <a:stretch>
            <a:fillRect/>
          </a:stretch>
        </p:blipFill>
        <p:spPr>
          <a:xfrm>
            <a:off x="1553992" y="1501219"/>
            <a:ext cx="9084016" cy="4611441"/>
          </a:xfrm>
          <a:prstGeom prst="rect">
            <a:avLst/>
          </a:prstGeom>
        </p:spPr>
      </p:pic>
    </p:spTree>
    <p:extLst>
      <p:ext uri="{BB962C8B-B14F-4D97-AF65-F5344CB8AC3E}">
        <p14:creationId xmlns:p14="http://schemas.microsoft.com/office/powerpoint/2010/main" val="1205466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781AF-15EF-2D1F-F090-513F6C101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81F53-EDB2-EA8A-F06F-045AC3495603}"/>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AAC0948A-73BA-5675-5CB5-559575790A86}"/>
              </a:ext>
            </a:extLst>
          </p:cNvPr>
          <p:cNvSpPr txBox="1"/>
          <p:nvPr/>
        </p:nvSpPr>
        <p:spPr>
          <a:xfrm>
            <a:off x="1660676" y="1004068"/>
            <a:ext cx="1625424" cy="369332"/>
          </a:xfrm>
          <a:prstGeom prst="rect">
            <a:avLst/>
          </a:prstGeom>
          <a:noFill/>
        </p:spPr>
        <p:txBody>
          <a:bodyPr wrap="square" lIns="91440" tIns="45720" rIns="91440" bIns="45720" rtlCol="0" anchor="t">
            <a:spAutoFit/>
          </a:bodyPr>
          <a:lstStyle/>
          <a:p>
            <a:r>
              <a:rPr lang="en-IN"/>
              <a:t>2. </a:t>
            </a:r>
            <a:r>
              <a:rPr lang="en-IN" b="1" u="sng"/>
              <a:t>Waveform</a:t>
            </a:r>
          </a:p>
        </p:txBody>
      </p:sp>
      <p:pic>
        <p:nvPicPr>
          <p:cNvPr id="4" name="Picture 3">
            <a:extLst>
              <a:ext uri="{FF2B5EF4-FFF2-40B4-BE49-F238E27FC236}">
                <a16:creationId xmlns:a16="http://schemas.microsoft.com/office/drawing/2014/main" id="{85C71CA3-E6EC-2000-ACB4-B3C71F79C65C}"/>
              </a:ext>
            </a:extLst>
          </p:cNvPr>
          <p:cNvPicPr>
            <a:picLocks noChangeAspect="1"/>
          </p:cNvPicPr>
          <p:nvPr/>
        </p:nvPicPr>
        <p:blipFill>
          <a:blip r:embed="rId2"/>
          <a:stretch>
            <a:fillRect/>
          </a:stretch>
        </p:blipFill>
        <p:spPr>
          <a:xfrm>
            <a:off x="1260987" y="1492669"/>
            <a:ext cx="9670026" cy="4948886"/>
          </a:xfrm>
          <a:prstGeom prst="rect">
            <a:avLst/>
          </a:prstGeom>
        </p:spPr>
      </p:pic>
    </p:spTree>
    <p:extLst>
      <p:ext uri="{BB962C8B-B14F-4D97-AF65-F5344CB8AC3E}">
        <p14:creationId xmlns:p14="http://schemas.microsoft.com/office/powerpoint/2010/main" val="28029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4C60A-C0B7-5D41-7819-A05808C4E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0E465-2EF8-61A4-F1C5-890FA872EB29}"/>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0AE7D315-0453-139C-44C5-B06E9F1761E1}"/>
              </a:ext>
            </a:extLst>
          </p:cNvPr>
          <p:cNvSpPr txBox="1"/>
          <p:nvPr/>
        </p:nvSpPr>
        <p:spPr>
          <a:xfrm>
            <a:off x="1043819" y="1307422"/>
            <a:ext cx="2700856" cy="369332"/>
          </a:xfrm>
          <a:prstGeom prst="rect">
            <a:avLst/>
          </a:prstGeom>
          <a:noFill/>
        </p:spPr>
        <p:txBody>
          <a:bodyPr wrap="square" lIns="91440" tIns="45720" rIns="91440" bIns="45720" rtlCol="0" anchor="t">
            <a:spAutoFit/>
          </a:bodyPr>
          <a:lstStyle/>
          <a:p>
            <a:r>
              <a:rPr lang="en-IN"/>
              <a:t>3. </a:t>
            </a:r>
            <a:r>
              <a:rPr lang="en-IN" b="1" u="sng"/>
              <a:t>TCL Console Output</a:t>
            </a:r>
          </a:p>
        </p:txBody>
      </p:sp>
      <p:pic>
        <p:nvPicPr>
          <p:cNvPr id="4" name="Picture 3">
            <a:extLst>
              <a:ext uri="{FF2B5EF4-FFF2-40B4-BE49-F238E27FC236}">
                <a16:creationId xmlns:a16="http://schemas.microsoft.com/office/drawing/2014/main" id="{A19F91A1-657B-D647-9D77-83EA72BC5164}"/>
              </a:ext>
            </a:extLst>
          </p:cNvPr>
          <p:cNvPicPr>
            <a:picLocks noChangeAspect="1"/>
          </p:cNvPicPr>
          <p:nvPr/>
        </p:nvPicPr>
        <p:blipFill>
          <a:blip r:embed="rId2"/>
          <a:stretch>
            <a:fillRect/>
          </a:stretch>
        </p:blipFill>
        <p:spPr>
          <a:xfrm>
            <a:off x="1038388" y="2118727"/>
            <a:ext cx="10115223" cy="1794636"/>
          </a:xfrm>
          <a:prstGeom prst="rect">
            <a:avLst/>
          </a:prstGeom>
        </p:spPr>
      </p:pic>
    </p:spTree>
    <p:extLst>
      <p:ext uri="{BB962C8B-B14F-4D97-AF65-F5344CB8AC3E}">
        <p14:creationId xmlns:p14="http://schemas.microsoft.com/office/powerpoint/2010/main" val="4252823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E0E02-D6CE-7716-4BCF-4B8CF1B10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2D49E-1DEE-67B3-2F85-04CC8E84C6A7}"/>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1014618B-F5D1-0238-A828-47A46FD8CE62}"/>
              </a:ext>
            </a:extLst>
          </p:cNvPr>
          <p:cNvSpPr txBox="1"/>
          <p:nvPr/>
        </p:nvSpPr>
        <p:spPr>
          <a:xfrm>
            <a:off x="1043819" y="1305748"/>
            <a:ext cx="3207474" cy="369332"/>
          </a:xfrm>
          <a:prstGeom prst="rect">
            <a:avLst/>
          </a:prstGeom>
          <a:noFill/>
        </p:spPr>
        <p:txBody>
          <a:bodyPr wrap="square" lIns="91440" tIns="45720" rIns="91440" bIns="45720" rtlCol="0" anchor="t">
            <a:spAutoFit/>
          </a:bodyPr>
          <a:lstStyle/>
          <a:p>
            <a:r>
              <a:rPr lang="en-IN"/>
              <a:t>4. </a:t>
            </a:r>
            <a:r>
              <a:rPr lang="en-IN" b="1" u="sng"/>
              <a:t>Design Timing Summary</a:t>
            </a:r>
          </a:p>
        </p:txBody>
      </p:sp>
      <p:pic>
        <p:nvPicPr>
          <p:cNvPr id="4" name="Picture 3">
            <a:extLst>
              <a:ext uri="{FF2B5EF4-FFF2-40B4-BE49-F238E27FC236}">
                <a16:creationId xmlns:a16="http://schemas.microsoft.com/office/drawing/2014/main" id="{88AE10F4-DD18-8477-CAD2-7E1683BD4EC8}"/>
              </a:ext>
            </a:extLst>
          </p:cNvPr>
          <p:cNvPicPr>
            <a:picLocks noChangeAspect="1"/>
          </p:cNvPicPr>
          <p:nvPr/>
        </p:nvPicPr>
        <p:blipFill>
          <a:blip r:embed="rId2"/>
          <a:stretch>
            <a:fillRect/>
          </a:stretch>
        </p:blipFill>
        <p:spPr>
          <a:xfrm>
            <a:off x="1204230" y="2142945"/>
            <a:ext cx="9783540" cy="2572109"/>
          </a:xfrm>
          <a:prstGeom prst="rect">
            <a:avLst/>
          </a:prstGeom>
        </p:spPr>
      </p:pic>
    </p:spTree>
    <p:extLst>
      <p:ext uri="{BB962C8B-B14F-4D97-AF65-F5344CB8AC3E}">
        <p14:creationId xmlns:p14="http://schemas.microsoft.com/office/powerpoint/2010/main" val="3987397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FBA3B-C7BA-04DB-DCC0-91A176D1F7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9F15C-0F32-B12E-C333-8FCF1463F880}"/>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5BC11575-1CD0-B340-9F63-4C4A092E8575}"/>
              </a:ext>
            </a:extLst>
          </p:cNvPr>
          <p:cNvSpPr txBox="1"/>
          <p:nvPr/>
        </p:nvSpPr>
        <p:spPr>
          <a:xfrm>
            <a:off x="1684867" y="810544"/>
            <a:ext cx="1481496" cy="369332"/>
          </a:xfrm>
          <a:prstGeom prst="rect">
            <a:avLst/>
          </a:prstGeom>
          <a:noFill/>
        </p:spPr>
        <p:txBody>
          <a:bodyPr wrap="none" lIns="91440" tIns="45720" rIns="91440" bIns="45720" rtlCol="0" anchor="t">
            <a:spAutoFit/>
          </a:bodyPr>
          <a:lstStyle/>
          <a:p>
            <a:r>
              <a:rPr lang="en-IN"/>
              <a:t>5. </a:t>
            </a:r>
            <a:r>
              <a:rPr lang="en-IN" b="1" u="sng"/>
              <a:t>Utilization</a:t>
            </a:r>
          </a:p>
        </p:txBody>
      </p:sp>
      <p:pic>
        <p:nvPicPr>
          <p:cNvPr id="4" name="Picture 3">
            <a:extLst>
              <a:ext uri="{FF2B5EF4-FFF2-40B4-BE49-F238E27FC236}">
                <a16:creationId xmlns:a16="http://schemas.microsoft.com/office/drawing/2014/main" id="{1AA93EA8-624F-9DCD-4B71-E522FCACFBA1}"/>
              </a:ext>
            </a:extLst>
          </p:cNvPr>
          <p:cNvPicPr>
            <a:picLocks noChangeAspect="1"/>
          </p:cNvPicPr>
          <p:nvPr/>
        </p:nvPicPr>
        <p:blipFill>
          <a:blip r:embed="rId2"/>
          <a:stretch>
            <a:fillRect/>
          </a:stretch>
        </p:blipFill>
        <p:spPr>
          <a:xfrm>
            <a:off x="2266188" y="1373400"/>
            <a:ext cx="7659623" cy="4211085"/>
          </a:xfrm>
          <a:prstGeom prst="rect">
            <a:avLst/>
          </a:prstGeom>
        </p:spPr>
      </p:pic>
    </p:spTree>
    <p:extLst>
      <p:ext uri="{BB962C8B-B14F-4D97-AF65-F5344CB8AC3E}">
        <p14:creationId xmlns:p14="http://schemas.microsoft.com/office/powerpoint/2010/main" val="2219052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3436F-FD90-349C-7485-1E992130A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0FA78-2D6F-EB3F-4A16-C8AFB3DBBB9D}"/>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30AE17FC-93B1-4BA6-7A45-F692403E3899}"/>
              </a:ext>
            </a:extLst>
          </p:cNvPr>
          <p:cNvSpPr txBox="1"/>
          <p:nvPr/>
        </p:nvSpPr>
        <p:spPr>
          <a:xfrm>
            <a:off x="1781629" y="1004068"/>
            <a:ext cx="1140056" cy="369332"/>
          </a:xfrm>
          <a:prstGeom prst="rect">
            <a:avLst/>
          </a:prstGeom>
          <a:noFill/>
        </p:spPr>
        <p:txBody>
          <a:bodyPr wrap="none" lIns="91440" tIns="45720" rIns="91440" bIns="45720" rtlCol="0" anchor="t">
            <a:spAutoFit/>
          </a:bodyPr>
          <a:lstStyle/>
          <a:p>
            <a:r>
              <a:rPr lang="en-IN"/>
              <a:t>6. </a:t>
            </a:r>
            <a:r>
              <a:rPr lang="en-IN" b="1" u="sng"/>
              <a:t>Power</a:t>
            </a:r>
          </a:p>
        </p:txBody>
      </p:sp>
      <p:pic>
        <p:nvPicPr>
          <p:cNvPr id="4" name="Picture 3">
            <a:extLst>
              <a:ext uri="{FF2B5EF4-FFF2-40B4-BE49-F238E27FC236}">
                <a16:creationId xmlns:a16="http://schemas.microsoft.com/office/drawing/2014/main" id="{A61F237A-DF46-7474-B15D-CDD04C6AEEF7}"/>
              </a:ext>
            </a:extLst>
          </p:cNvPr>
          <p:cNvPicPr>
            <a:picLocks noChangeAspect="1"/>
          </p:cNvPicPr>
          <p:nvPr/>
        </p:nvPicPr>
        <p:blipFill>
          <a:blip r:embed="rId2"/>
          <a:stretch>
            <a:fillRect/>
          </a:stretch>
        </p:blipFill>
        <p:spPr>
          <a:xfrm>
            <a:off x="2137810" y="1373400"/>
            <a:ext cx="7916380" cy="4391638"/>
          </a:xfrm>
          <a:prstGeom prst="rect">
            <a:avLst/>
          </a:prstGeom>
        </p:spPr>
      </p:pic>
    </p:spTree>
    <p:extLst>
      <p:ext uri="{BB962C8B-B14F-4D97-AF65-F5344CB8AC3E}">
        <p14:creationId xmlns:p14="http://schemas.microsoft.com/office/powerpoint/2010/main" val="3281989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CD27F-4E55-6D24-133D-AE9C9818D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1091B-E05B-C26F-F79B-3AD9034C9756}"/>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24BB2191-896A-969B-07E1-CAE0C4BEF279}"/>
              </a:ext>
            </a:extLst>
          </p:cNvPr>
          <p:cNvSpPr txBox="1"/>
          <p:nvPr/>
        </p:nvSpPr>
        <p:spPr>
          <a:xfrm>
            <a:off x="1527629" y="1016163"/>
            <a:ext cx="3066113" cy="369332"/>
          </a:xfrm>
          <a:prstGeom prst="rect">
            <a:avLst/>
          </a:prstGeom>
          <a:noFill/>
        </p:spPr>
        <p:txBody>
          <a:bodyPr wrap="square" lIns="91440" tIns="45720" rIns="91440" bIns="45720" rtlCol="0" anchor="t">
            <a:spAutoFit/>
          </a:bodyPr>
          <a:lstStyle/>
          <a:p>
            <a:r>
              <a:rPr lang="en-IN"/>
              <a:t>1. </a:t>
            </a:r>
            <a:r>
              <a:rPr lang="en-IN" b="1" u="sng"/>
              <a:t>Critical Path Schematic</a:t>
            </a:r>
          </a:p>
        </p:txBody>
      </p:sp>
      <p:pic>
        <p:nvPicPr>
          <p:cNvPr id="4" name="Picture 3">
            <a:extLst>
              <a:ext uri="{FF2B5EF4-FFF2-40B4-BE49-F238E27FC236}">
                <a16:creationId xmlns:a16="http://schemas.microsoft.com/office/drawing/2014/main" id="{20A6A322-5A8D-53A7-9BEB-1E28F1F35C81}"/>
              </a:ext>
            </a:extLst>
          </p:cNvPr>
          <p:cNvPicPr>
            <a:picLocks noChangeAspect="1"/>
          </p:cNvPicPr>
          <p:nvPr/>
        </p:nvPicPr>
        <p:blipFill>
          <a:blip r:embed="rId2"/>
          <a:stretch>
            <a:fillRect/>
          </a:stretch>
        </p:blipFill>
        <p:spPr>
          <a:xfrm>
            <a:off x="1531374" y="1565212"/>
            <a:ext cx="9129252" cy="4617025"/>
          </a:xfrm>
          <a:prstGeom prst="rect">
            <a:avLst/>
          </a:prstGeom>
        </p:spPr>
      </p:pic>
    </p:spTree>
    <p:extLst>
      <p:ext uri="{BB962C8B-B14F-4D97-AF65-F5344CB8AC3E}">
        <p14:creationId xmlns:p14="http://schemas.microsoft.com/office/powerpoint/2010/main" val="1138815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ED28B-D354-6467-C6FA-9841BF5E2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D0CBA-5BD4-C4B0-E37D-06B9DEC76319}"/>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B164746A-107F-273A-3A49-4D765120C908}"/>
              </a:ext>
            </a:extLst>
          </p:cNvPr>
          <p:cNvSpPr txBox="1"/>
          <p:nvPr/>
        </p:nvSpPr>
        <p:spPr>
          <a:xfrm>
            <a:off x="1660676" y="810544"/>
            <a:ext cx="1606530" cy="369332"/>
          </a:xfrm>
          <a:prstGeom prst="rect">
            <a:avLst/>
          </a:prstGeom>
          <a:noFill/>
        </p:spPr>
        <p:txBody>
          <a:bodyPr wrap="none" lIns="91440" tIns="45720" rIns="91440" bIns="45720" rtlCol="0" anchor="t">
            <a:spAutoFit/>
          </a:bodyPr>
          <a:lstStyle/>
          <a:p>
            <a:r>
              <a:rPr lang="en-IN"/>
              <a:t>2. </a:t>
            </a:r>
            <a:r>
              <a:rPr lang="en-IN" b="1" u="sng"/>
              <a:t>Waveform</a:t>
            </a:r>
          </a:p>
        </p:txBody>
      </p:sp>
      <p:pic>
        <p:nvPicPr>
          <p:cNvPr id="6" name="Picture 5">
            <a:extLst>
              <a:ext uri="{FF2B5EF4-FFF2-40B4-BE49-F238E27FC236}">
                <a16:creationId xmlns:a16="http://schemas.microsoft.com/office/drawing/2014/main" id="{AAD5E0E4-A9F4-FD67-A62C-6701AC5F93C8}"/>
              </a:ext>
            </a:extLst>
          </p:cNvPr>
          <p:cNvPicPr>
            <a:picLocks noChangeAspect="1"/>
          </p:cNvPicPr>
          <p:nvPr/>
        </p:nvPicPr>
        <p:blipFill>
          <a:blip r:embed="rId2"/>
          <a:stretch>
            <a:fillRect/>
          </a:stretch>
        </p:blipFill>
        <p:spPr>
          <a:xfrm>
            <a:off x="1333733" y="1373400"/>
            <a:ext cx="9524534" cy="4896072"/>
          </a:xfrm>
          <a:prstGeom prst="rect">
            <a:avLst/>
          </a:prstGeom>
        </p:spPr>
      </p:pic>
    </p:spTree>
    <p:extLst>
      <p:ext uri="{BB962C8B-B14F-4D97-AF65-F5344CB8AC3E}">
        <p14:creationId xmlns:p14="http://schemas.microsoft.com/office/powerpoint/2010/main" val="377838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A23C-5632-A499-141A-3A13B04A9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DFD69-453B-D65D-9F0B-5B1263571E6C}"/>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78FA9C46-63B3-9C7D-1493-21F9453374C0}"/>
              </a:ext>
            </a:extLst>
          </p:cNvPr>
          <p:cNvSpPr txBox="1"/>
          <p:nvPr/>
        </p:nvSpPr>
        <p:spPr>
          <a:xfrm>
            <a:off x="1031724" y="1275340"/>
            <a:ext cx="2930665" cy="369332"/>
          </a:xfrm>
          <a:prstGeom prst="rect">
            <a:avLst/>
          </a:prstGeom>
          <a:noFill/>
        </p:spPr>
        <p:txBody>
          <a:bodyPr wrap="square" lIns="91440" tIns="45720" rIns="91440" bIns="45720" rtlCol="0" anchor="t">
            <a:spAutoFit/>
          </a:bodyPr>
          <a:lstStyle/>
          <a:p>
            <a:r>
              <a:rPr lang="en-IN"/>
              <a:t>3. </a:t>
            </a:r>
            <a:r>
              <a:rPr lang="en-IN" b="1" u="sng"/>
              <a:t>TCL Console Output</a:t>
            </a:r>
          </a:p>
        </p:txBody>
      </p:sp>
      <p:pic>
        <p:nvPicPr>
          <p:cNvPr id="4" name="Picture 3">
            <a:extLst>
              <a:ext uri="{FF2B5EF4-FFF2-40B4-BE49-F238E27FC236}">
                <a16:creationId xmlns:a16="http://schemas.microsoft.com/office/drawing/2014/main" id="{C7DD48A5-4609-1725-8AE8-32AC5535221B}"/>
              </a:ext>
            </a:extLst>
          </p:cNvPr>
          <p:cNvPicPr>
            <a:picLocks noChangeAspect="1"/>
          </p:cNvPicPr>
          <p:nvPr/>
        </p:nvPicPr>
        <p:blipFill>
          <a:blip r:embed="rId2"/>
          <a:stretch>
            <a:fillRect/>
          </a:stretch>
        </p:blipFill>
        <p:spPr>
          <a:xfrm>
            <a:off x="910462" y="2050826"/>
            <a:ext cx="10371076" cy="1650720"/>
          </a:xfrm>
          <a:prstGeom prst="rect">
            <a:avLst/>
          </a:prstGeom>
        </p:spPr>
      </p:pic>
    </p:spTree>
    <p:extLst>
      <p:ext uri="{BB962C8B-B14F-4D97-AF65-F5344CB8AC3E}">
        <p14:creationId xmlns:p14="http://schemas.microsoft.com/office/powerpoint/2010/main" val="319553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D73E7-1190-07E8-78DB-05C613C61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81C32-1105-E31A-DC5F-3D921E5248C2}"/>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4DF346E4-CC82-C087-CB4B-1243FE56647A}"/>
              </a:ext>
            </a:extLst>
          </p:cNvPr>
          <p:cNvSpPr txBox="1"/>
          <p:nvPr/>
        </p:nvSpPr>
        <p:spPr>
          <a:xfrm>
            <a:off x="1116390" y="1475783"/>
            <a:ext cx="3340521" cy="369332"/>
          </a:xfrm>
          <a:prstGeom prst="rect">
            <a:avLst/>
          </a:prstGeom>
          <a:noFill/>
        </p:spPr>
        <p:txBody>
          <a:bodyPr wrap="square" lIns="91440" tIns="45720" rIns="91440" bIns="45720" rtlCol="0" anchor="t">
            <a:spAutoFit/>
          </a:bodyPr>
          <a:lstStyle/>
          <a:p>
            <a:r>
              <a:rPr lang="en-IN"/>
              <a:t>4. </a:t>
            </a:r>
            <a:r>
              <a:rPr lang="en-IN" b="1" u="sng"/>
              <a:t>Design Timing Summary</a:t>
            </a:r>
          </a:p>
        </p:txBody>
      </p:sp>
      <p:pic>
        <p:nvPicPr>
          <p:cNvPr id="4" name="Picture 3">
            <a:extLst>
              <a:ext uri="{FF2B5EF4-FFF2-40B4-BE49-F238E27FC236}">
                <a16:creationId xmlns:a16="http://schemas.microsoft.com/office/drawing/2014/main" id="{16B02D40-FFB2-D720-7F0F-C9EE48839457}"/>
              </a:ext>
            </a:extLst>
          </p:cNvPr>
          <p:cNvPicPr>
            <a:picLocks noChangeAspect="1"/>
          </p:cNvPicPr>
          <p:nvPr/>
        </p:nvPicPr>
        <p:blipFill>
          <a:blip r:embed="rId2"/>
          <a:stretch>
            <a:fillRect/>
          </a:stretch>
        </p:blipFill>
        <p:spPr>
          <a:xfrm>
            <a:off x="1121344" y="2191355"/>
            <a:ext cx="9949312" cy="2475289"/>
          </a:xfrm>
          <a:prstGeom prst="rect">
            <a:avLst/>
          </a:prstGeom>
        </p:spPr>
      </p:pic>
    </p:spTree>
    <p:extLst>
      <p:ext uri="{BB962C8B-B14F-4D97-AF65-F5344CB8AC3E}">
        <p14:creationId xmlns:p14="http://schemas.microsoft.com/office/powerpoint/2010/main" val="4048060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F6F61-839C-BACE-B6AA-12520347A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BDB65-10DA-C353-8783-B475B844367F}"/>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0B6E9CEC-5B2A-FF48-EB65-799F160C9787}"/>
              </a:ext>
            </a:extLst>
          </p:cNvPr>
          <p:cNvSpPr txBox="1"/>
          <p:nvPr/>
        </p:nvSpPr>
        <p:spPr>
          <a:xfrm>
            <a:off x="1563915" y="1185496"/>
            <a:ext cx="1481496" cy="369332"/>
          </a:xfrm>
          <a:prstGeom prst="rect">
            <a:avLst/>
          </a:prstGeom>
          <a:noFill/>
        </p:spPr>
        <p:txBody>
          <a:bodyPr wrap="none" lIns="91440" tIns="45720" rIns="91440" bIns="45720" rtlCol="0" anchor="t">
            <a:spAutoFit/>
          </a:bodyPr>
          <a:lstStyle/>
          <a:p>
            <a:r>
              <a:rPr lang="en-IN"/>
              <a:t>5. </a:t>
            </a:r>
            <a:r>
              <a:rPr lang="en-IN" b="1" u="sng"/>
              <a:t>Utilization</a:t>
            </a:r>
          </a:p>
        </p:txBody>
      </p:sp>
      <p:pic>
        <p:nvPicPr>
          <p:cNvPr id="4" name="Picture 3">
            <a:extLst>
              <a:ext uri="{FF2B5EF4-FFF2-40B4-BE49-F238E27FC236}">
                <a16:creationId xmlns:a16="http://schemas.microsoft.com/office/drawing/2014/main" id="{A089D648-8F86-7184-5EFF-7A00171D76CC}"/>
              </a:ext>
            </a:extLst>
          </p:cNvPr>
          <p:cNvPicPr>
            <a:picLocks noChangeAspect="1"/>
          </p:cNvPicPr>
          <p:nvPr/>
        </p:nvPicPr>
        <p:blipFill>
          <a:blip r:embed="rId2"/>
          <a:stretch>
            <a:fillRect/>
          </a:stretch>
        </p:blipFill>
        <p:spPr>
          <a:xfrm>
            <a:off x="2790363" y="1716936"/>
            <a:ext cx="6611273" cy="4077269"/>
          </a:xfrm>
          <a:prstGeom prst="rect">
            <a:avLst/>
          </a:prstGeom>
        </p:spPr>
      </p:pic>
    </p:spTree>
    <p:extLst>
      <p:ext uri="{BB962C8B-B14F-4D97-AF65-F5344CB8AC3E}">
        <p14:creationId xmlns:p14="http://schemas.microsoft.com/office/powerpoint/2010/main" val="3674310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421A-8A02-D06A-F392-64754CDAF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671EF-ECD7-55C5-DCCA-2BFDBAAD9172}"/>
              </a:ext>
            </a:extLst>
          </p:cNvPr>
          <p:cNvSpPr>
            <a:spLocks noGrp="1"/>
          </p:cNvSpPr>
          <p:nvPr>
            <p:ph type="title"/>
          </p:nvPr>
        </p:nvSpPr>
        <p:spPr>
          <a:xfrm>
            <a:off x="838200" y="188145"/>
            <a:ext cx="10515600" cy="815334"/>
          </a:xfrm>
        </p:spPr>
        <p:txBody>
          <a:bodyPr/>
          <a:lstStyle/>
          <a:p>
            <a:pPr lvl="0" algn="ctr"/>
            <a:r>
              <a:rPr lang="en-IN" u="sng">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48D25305-8025-6A2A-14D9-406DC61E6FA8}"/>
              </a:ext>
            </a:extLst>
          </p:cNvPr>
          <p:cNvSpPr txBox="1"/>
          <p:nvPr/>
        </p:nvSpPr>
        <p:spPr>
          <a:xfrm>
            <a:off x="1830010" y="1004068"/>
            <a:ext cx="1140056" cy="369332"/>
          </a:xfrm>
          <a:prstGeom prst="rect">
            <a:avLst/>
          </a:prstGeom>
          <a:noFill/>
        </p:spPr>
        <p:txBody>
          <a:bodyPr wrap="none" lIns="91440" tIns="45720" rIns="91440" bIns="45720" rtlCol="0" anchor="t">
            <a:spAutoFit/>
          </a:bodyPr>
          <a:lstStyle/>
          <a:p>
            <a:r>
              <a:rPr lang="en-IN"/>
              <a:t>6. </a:t>
            </a:r>
            <a:r>
              <a:rPr lang="en-IN" b="1" u="sng"/>
              <a:t>Power</a:t>
            </a:r>
          </a:p>
        </p:txBody>
      </p:sp>
      <p:pic>
        <p:nvPicPr>
          <p:cNvPr id="4" name="Picture 3">
            <a:extLst>
              <a:ext uri="{FF2B5EF4-FFF2-40B4-BE49-F238E27FC236}">
                <a16:creationId xmlns:a16="http://schemas.microsoft.com/office/drawing/2014/main" id="{D6AEE818-E942-66AB-7BD4-7235187B201C}"/>
              </a:ext>
            </a:extLst>
          </p:cNvPr>
          <p:cNvPicPr>
            <a:picLocks noChangeAspect="1"/>
          </p:cNvPicPr>
          <p:nvPr/>
        </p:nvPicPr>
        <p:blipFill>
          <a:blip r:embed="rId2"/>
          <a:stretch>
            <a:fillRect/>
          </a:stretch>
        </p:blipFill>
        <p:spPr>
          <a:xfrm>
            <a:off x="2140126" y="1525222"/>
            <a:ext cx="7754432" cy="4515480"/>
          </a:xfrm>
          <a:prstGeom prst="rect">
            <a:avLst/>
          </a:prstGeom>
        </p:spPr>
      </p:pic>
    </p:spTree>
    <p:extLst>
      <p:ext uri="{BB962C8B-B14F-4D97-AF65-F5344CB8AC3E}">
        <p14:creationId xmlns:p14="http://schemas.microsoft.com/office/powerpoint/2010/main" val="436369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846C4-FD32-4B6F-5FEA-71B2131C80CC}"/>
              </a:ext>
            </a:extLst>
          </p:cNvPr>
          <p:cNvSpPr>
            <a:spLocks noGrp="1"/>
          </p:cNvSpPr>
          <p:nvPr>
            <p:ph type="title"/>
          </p:nvPr>
        </p:nvSpPr>
        <p:spPr>
          <a:xfrm>
            <a:off x="2314735" y="224967"/>
            <a:ext cx="8911687" cy="1280890"/>
          </a:xfrm>
        </p:spPr>
        <p:txBody>
          <a:bodyPr>
            <a:normAutofit/>
          </a:bodyPr>
          <a:lstStyle/>
          <a:p>
            <a:r>
              <a:rPr lang="en-US" sz="2800" b="1" u="sng"/>
              <a:t>Comparison and Observations</a:t>
            </a:r>
          </a:p>
        </p:txBody>
      </p:sp>
      <p:sp>
        <p:nvSpPr>
          <p:cNvPr id="3" name="Content Placeholder 2">
            <a:extLst>
              <a:ext uri="{FF2B5EF4-FFF2-40B4-BE49-F238E27FC236}">
                <a16:creationId xmlns:a16="http://schemas.microsoft.com/office/drawing/2014/main" id="{407B3B23-60F4-3293-0DCD-EDD935613C01}"/>
              </a:ext>
            </a:extLst>
          </p:cNvPr>
          <p:cNvSpPr>
            <a:spLocks noGrp="1"/>
          </p:cNvSpPr>
          <p:nvPr>
            <p:ph idx="1"/>
          </p:nvPr>
        </p:nvSpPr>
        <p:spPr>
          <a:xfrm>
            <a:off x="714450" y="1371601"/>
            <a:ext cx="10753876" cy="5350001"/>
          </a:xfrm>
        </p:spPr>
        <p:txBody>
          <a:bodyPr vert="horz" lIns="91440" tIns="45720" rIns="91440" bIns="45720" rtlCol="0" anchor="t">
            <a:normAutofit lnSpcReduction="10000"/>
          </a:bodyPr>
          <a:lstStyle/>
          <a:p>
            <a:r>
              <a:rPr lang="en-US" b="1" u="sng"/>
              <a:t>Overall comparison</a:t>
            </a:r>
          </a:p>
          <a:p>
            <a:r>
              <a:rPr lang="en-US" sz="1900" b="1"/>
              <a:t>IEEE-754 Divider IP</a:t>
            </a:r>
            <a:endParaRPr lang="en-US" sz="1900">
              <a:solidFill>
                <a:srgbClr val="000000"/>
              </a:solidFill>
            </a:endParaRPr>
          </a:p>
          <a:p>
            <a:pPr lvl="1"/>
            <a:r>
              <a:rPr lang="en-US" b="1"/>
              <a:t>Area:</a:t>
            </a:r>
            <a:r>
              <a:rPr lang="en-US"/>
              <a:t> Medium LUT/FF but likely uses DSPs; more complex.</a:t>
            </a:r>
            <a:endParaRPr lang="en-US">
              <a:solidFill>
                <a:srgbClr val="000000"/>
              </a:solidFill>
            </a:endParaRPr>
          </a:p>
          <a:p>
            <a:pPr lvl="1"/>
            <a:r>
              <a:rPr lang="en-US" b="1"/>
              <a:t>Power:</a:t>
            </a:r>
            <a:r>
              <a:rPr lang="en-US"/>
              <a:t> Highest dynamic power (~53 </a:t>
            </a:r>
            <a:r>
              <a:rPr lang="en-US" err="1"/>
              <a:t>mW</a:t>
            </a:r>
            <a:r>
              <a:rPr lang="en-US"/>
              <a:t>).</a:t>
            </a:r>
            <a:endParaRPr lang="en-US">
              <a:solidFill>
                <a:srgbClr val="000000"/>
              </a:solidFill>
            </a:endParaRPr>
          </a:p>
          <a:p>
            <a:pPr lvl="1"/>
            <a:r>
              <a:rPr lang="en-US" b="1"/>
              <a:t>Latency:</a:t>
            </a:r>
            <a:r>
              <a:rPr lang="en-US"/>
              <a:t> 29 cycles ( Was set to this- highest)</a:t>
            </a:r>
            <a:endParaRPr lang="en-US">
              <a:solidFill>
                <a:srgbClr val="000000"/>
              </a:solidFill>
            </a:endParaRPr>
          </a:p>
          <a:p>
            <a:pPr lvl="1"/>
            <a:r>
              <a:rPr lang="en-US" b="1"/>
              <a:t>Throughput:</a:t>
            </a:r>
            <a:r>
              <a:rPr lang="en-US"/>
              <a:t> 1 result per cycle when pipelined.</a:t>
            </a:r>
            <a:endParaRPr lang="en-US">
              <a:solidFill>
                <a:srgbClr val="000000"/>
              </a:solidFill>
            </a:endParaRPr>
          </a:p>
          <a:p>
            <a:pPr lvl="1"/>
            <a:r>
              <a:rPr lang="en-US" b="1"/>
              <a:t>Best use case:</a:t>
            </a:r>
            <a:r>
              <a:rPr lang="en-US"/>
              <a:t> When full IEEE-754 compliance and robust corner-case handling are more important than area and power.</a:t>
            </a:r>
          </a:p>
          <a:p>
            <a:r>
              <a:rPr lang="en-US" sz="1900" b="1"/>
              <a:t>Non-pipelined subtractive divider</a:t>
            </a:r>
            <a:endParaRPr lang="en-US" sz="1900">
              <a:solidFill>
                <a:srgbClr val="000000"/>
              </a:solidFill>
            </a:endParaRPr>
          </a:p>
          <a:p>
            <a:pPr lvl="1"/>
            <a:r>
              <a:rPr lang="en-US" b="1"/>
              <a:t>Area:</a:t>
            </a:r>
            <a:r>
              <a:rPr lang="en-US"/>
              <a:t> Very small (0.75% LUT, 0.42% FF).</a:t>
            </a:r>
            <a:endParaRPr lang="en-US">
              <a:solidFill>
                <a:srgbClr val="000000"/>
              </a:solidFill>
            </a:endParaRPr>
          </a:p>
          <a:p>
            <a:pPr lvl="1"/>
            <a:r>
              <a:rPr lang="en-US" b="1"/>
              <a:t>Power:</a:t>
            </a:r>
            <a:r>
              <a:rPr lang="en-US"/>
              <a:t> Lowest dynamic power (~6 </a:t>
            </a:r>
            <a:r>
              <a:rPr lang="en-US" err="1"/>
              <a:t>mW</a:t>
            </a:r>
            <a:r>
              <a:rPr lang="en-US"/>
              <a:t>).</a:t>
            </a:r>
            <a:endParaRPr lang="en-US">
              <a:solidFill>
                <a:srgbClr val="000000"/>
              </a:solidFill>
            </a:endParaRPr>
          </a:p>
          <a:p>
            <a:pPr lvl="1"/>
            <a:r>
              <a:rPr lang="en-US" b="1"/>
              <a:t>Latency:</a:t>
            </a:r>
            <a:r>
              <a:rPr lang="en-US"/>
              <a:t> ~28 cycles.</a:t>
            </a:r>
            <a:endParaRPr lang="en-US">
              <a:solidFill>
                <a:srgbClr val="000000"/>
              </a:solidFill>
            </a:endParaRPr>
          </a:p>
          <a:p>
            <a:pPr lvl="1"/>
            <a:r>
              <a:rPr lang="en-US" b="1"/>
              <a:t>Throughput:</a:t>
            </a:r>
            <a:r>
              <a:rPr lang="en-US"/>
              <a:t> 1 result every 28 cycles (~3.5 M div/s at 100 MHz).</a:t>
            </a:r>
            <a:endParaRPr lang="en-US">
              <a:solidFill>
                <a:srgbClr val="000000"/>
              </a:solidFill>
            </a:endParaRPr>
          </a:p>
          <a:p>
            <a:pPr lvl="1"/>
            <a:r>
              <a:rPr lang="en-US" b="1"/>
              <a:t>Best use case:</a:t>
            </a:r>
            <a:r>
              <a:rPr lang="en-US"/>
              <a:t> Area- and power-constrained systems where only occasional divisions are needed, and throughput is not critical.</a:t>
            </a:r>
          </a:p>
          <a:p>
            <a:endParaRPr lang="en-US" b="1"/>
          </a:p>
          <a:p>
            <a:endParaRPr lang="en-US"/>
          </a:p>
        </p:txBody>
      </p:sp>
    </p:spTree>
    <p:extLst>
      <p:ext uri="{BB962C8B-B14F-4D97-AF65-F5344CB8AC3E}">
        <p14:creationId xmlns:p14="http://schemas.microsoft.com/office/powerpoint/2010/main" val="702769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B46C2-27EA-018D-E73B-E817A7AD9E46}"/>
              </a:ext>
            </a:extLst>
          </p:cNvPr>
          <p:cNvSpPr>
            <a:spLocks noGrp="1"/>
          </p:cNvSpPr>
          <p:nvPr>
            <p:ph idx="1"/>
          </p:nvPr>
        </p:nvSpPr>
        <p:spPr>
          <a:xfrm>
            <a:off x="702355" y="1540934"/>
            <a:ext cx="10802257" cy="5156478"/>
          </a:xfrm>
        </p:spPr>
        <p:txBody>
          <a:bodyPr vert="horz" lIns="91440" tIns="45720" rIns="91440" bIns="45720" rtlCol="0" anchor="t">
            <a:normAutofit/>
          </a:bodyPr>
          <a:lstStyle/>
          <a:p>
            <a:r>
              <a:rPr lang="en-US" b="1">
                <a:ea typeface="+mn-lt"/>
                <a:cs typeface="+mn-lt"/>
              </a:rPr>
              <a:t>Pipelined subtractive divider</a:t>
            </a:r>
            <a:endParaRPr lang="en-US"/>
          </a:p>
          <a:p>
            <a:r>
              <a:rPr lang="en-US" b="1">
                <a:ea typeface="+mn-lt"/>
                <a:cs typeface="+mn-lt"/>
              </a:rPr>
              <a:t>Area:</a:t>
            </a:r>
            <a:r>
              <a:rPr lang="en-US">
                <a:ea typeface="+mn-lt"/>
                <a:cs typeface="+mn-lt"/>
              </a:rPr>
              <a:t> Largest (7.95% LUT, 3.81% FF).</a:t>
            </a:r>
            <a:endParaRPr lang="en-US"/>
          </a:p>
          <a:p>
            <a:r>
              <a:rPr lang="en-US" b="1">
                <a:ea typeface="+mn-lt"/>
                <a:cs typeface="+mn-lt"/>
              </a:rPr>
              <a:t>Power:</a:t>
            </a:r>
            <a:r>
              <a:rPr lang="en-US">
                <a:ea typeface="+mn-lt"/>
                <a:cs typeface="+mn-lt"/>
              </a:rPr>
              <a:t> Medium dynamic power (~37 </a:t>
            </a:r>
            <a:r>
              <a:rPr lang="en-US" err="1">
                <a:ea typeface="+mn-lt"/>
                <a:cs typeface="+mn-lt"/>
              </a:rPr>
              <a:t>mW</a:t>
            </a:r>
            <a:r>
              <a:rPr lang="en-US">
                <a:ea typeface="+mn-lt"/>
                <a:cs typeface="+mn-lt"/>
              </a:rPr>
              <a:t>).</a:t>
            </a:r>
            <a:endParaRPr lang="en-US"/>
          </a:p>
          <a:p>
            <a:r>
              <a:rPr lang="en-US" b="1">
                <a:ea typeface="+mn-lt"/>
                <a:cs typeface="+mn-lt"/>
              </a:rPr>
              <a:t>Latency:</a:t>
            </a:r>
            <a:r>
              <a:rPr lang="en-US">
                <a:ea typeface="+mn-lt"/>
                <a:cs typeface="+mn-lt"/>
              </a:rPr>
              <a:t> ~27 cycles (Lowest)</a:t>
            </a:r>
            <a:endParaRPr lang="en-US"/>
          </a:p>
          <a:p>
            <a:r>
              <a:rPr lang="en-US" b="1">
                <a:ea typeface="+mn-lt"/>
                <a:cs typeface="+mn-lt"/>
              </a:rPr>
              <a:t>Throughput:</a:t>
            </a:r>
            <a:r>
              <a:rPr lang="en-US">
                <a:ea typeface="+mn-lt"/>
                <a:cs typeface="+mn-lt"/>
              </a:rPr>
              <a:t> 1 result per cycle (~100 M div/s at 100 MHz).</a:t>
            </a:r>
            <a:endParaRPr lang="en-US"/>
          </a:p>
          <a:p>
            <a:r>
              <a:rPr lang="en-US" b="1">
                <a:ea typeface="+mn-lt"/>
                <a:cs typeface="+mn-lt"/>
              </a:rPr>
              <a:t>Best use case:</a:t>
            </a:r>
            <a:r>
              <a:rPr lang="en-US">
                <a:ea typeface="+mn-lt"/>
                <a:cs typeface="+mn-lt"/>
              </a:rPr>
              <a:t> Custom design where we want high throughput floating-point division but are willing to pay area/power for it, while still using a simple subtractive algorithm (no DSPs).</a:t>
            </a:r>
            <a:endParaRPr lang="en-US"/>
          </a:p>
          <a:p>
            <a:endParaRPr lang="en-US"/>
          </a:p>
        </p:txBody>
      </p:sp>
    </p:spTree>
    <p:extLst>
      <p:ext uri="{BB962C8B-B14F-4D97-AF65-F5344CB8AC3E}">
        <p14:creationId xmlns:p14="http://schemas.microsoft.com/office/powerpoint/2010/main" val="3594314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DCA7D-8C6B-861A-FF18-7F8BF701B5DB}"/>
              </a:ext>
            </a:extLst>
          </p:cNvPr>
          <p:cNvSpPr>
            <a:spLocks noGrp="1"/>
          </p:cNvSpPr>
          <p:nvPr>
            <p:ph type="title"/>
          </p:nvPr>
        </p:nvSpPr>
        <p:spPr>
          <a:xfrm>
            <a:off x="1552735" y="442681"/>
            <a:ext cx="8911687" cy="1280890"/>
          </a:xfrm>
        </p:spPr>
        <p:txBody>
          <a:bodyPr/>
          <a:lstStyle/>
          <a:p>
            <a:pPr algn="ctr"/>
            <a:r>
              <a:rPr lang="en-US" b="1" u="sng"/>
              <a:t>Conclusions</a:t>
            </a:r>
            <a:endParaRPr lang="en-US"/>
          </a:p>
        </p:txBody>
      </p:sp>
      <p:sp>
        <p:nvSpPr>
          <p:cNvPr id="3" name="Content Placeholder 2">
            <a:extLst>
              <a:ext uri="{FF2B5EF4-FFF2-40B4-BE49-F238E27FC236}">
                <a16:creationId xmlns:a16="http://schemas.microsoft.com/office/drawing/2014/main" id="{34B1F593-9E8A-E1BD-4A08-636D77E888FA}"/>
              </a:ext>
            </a:extLst>
          </p:cNvPr>
          <p:cNvSpPr>
            <a:spLocks noGrp="1"/>
          </p:cNvSpPr>
          <p:nvPr>
            <p:ph idx="1"/>
          </p:nvPr>
        </p:nvSpPr>
        <p:spPr>
          <a:xfrm>
            <a:off x="520927" y="1444172"/>
            <a:ext cx="11225589" cy="5144383"/>
          </a:xfrm>
        </p:spPr>
        <p:txBody>
          <a:bodyPr vert="horz" lIns="91440" tIns="45720" rIns="91440" bIns="45720" rtlCol="0" anchor="t">
            <a:normAutofit/>
          </a:bodyPr>
          <a:lstStyle/>
          <a:p>
            <a:r>
              <a:rPr lang="en-US" dirty="0">
                <a:ea typeface="+mn-lt"/>
                <a:cs typeface="+mn-lt"/>
              </a:rPr>
              <a:t>In the chosen configuration, the Xilinx IEEE-754 Divider IP was set to a fixed latency of </a:t>
            </a:r>
            <a:r>
              <a:rPr lang="en-US" b="1" dirty="0">
                <a:ea typeface="+mn-lt"/>
                <a:cs typeface="+mn-lt"/>
              </a:rPr>
              <a:t>29 cycles</a:t>
            </a:r>
            <a:r>
              <a:rPr lang="en-US" dirty="0">
                <a:ea typeface="+mn-lt"/>
                <a:cs typeface="+mn-lt"/>
              </a:rPr>
              <a:t>.</a:t>
            </a:r>
            <a:br>
              <a:rPr lang="en-US" dirty="0">
                <a:ea typeface="+mn-lt"/>
                <a:cs typeface="+mn-lt"/>
              </a:rPr>
            </a:br>
            <a:r>
              <a:rPr lang="en-US" dirty="0">
                <a:ea typeface="+mn-lt"/>
                <a:cs typeface="+mn-lt"/>
              </a:rPr>
              <a:t> The custom non-pipelined subtractive divider exhibits a latency of </a:t>
            </a:r>
            <a:r>
              <a:rPr lang="en-US" b="1" dirty="0">
                <a:ea typeface="+mn-lt"/>
                <a:cs typeface="+mn-lt"/>
              </a:rPr>
              <a:t>28 cycles</a:t>
            </a:r>
            <a:r>
              <a:rPr lang="en-US" dirty="0">
                <a:ea typeface="+mn-lt"/>
                <a:cs typeface="+mn-lt"/>
              </a:rPr>
              <a:t> for normal cases, while the pipelined subtractive divider achieves a slightly lower latency of about </a:t>
            </a:r>
            <a:r>
              <a:rPr lang="en-US" b="1" dirty="0">
                <a:ea typeface="+mn-lt"/>
                <a:cs typeface="+mn-lt"/>
              </a:rPr>
              <a:t>27 cycles</a:t>
            </a:r>
            <a:r>
              <a:rPr lang="en-US" dirty="0">
                <a:ea typeface="+mn-lt"/>
                <a:cs typeface="+mn-lt"/>
              </a:rPr>
              <a:t>.</a:t>
            </a:r>
          </a:p>
          <a:p>
            <a:r>
              <a:rPr lang="en-US" dirty="0">
                <a:ea typeface="+mn-lt"/>
                <a:cs typeface="+mn-lt"/>
              </a:rPr>
              <a:t>Throughput is dramatically improved by pipelining. The pipelined subtractive divider offers </a:t>
            </a:r>
            <a:r>
              <a:rPr lang="en-US" b="1">
                <a:ea typeface="+mn-lt"/>
                <a:cs typeface="+mn-lt"/>
              </a:rPr>
              <a:t>~28× </a:t>
            </a:r>
            <a:r>
              <a:rPr lang="en-US" b="1" dirty="0">
                <a:ea typeface="+mn-lt"/>
                <a:cs typeface="+mn-lt"/>
              </a:rPr>
              <a:t>higher throughput</a:t>
            </a:r>
            <a:r>
              <a:rPr lang="en-US" dirty="0">
                <a:ea typeface="+mn-lt"/>
                <a:cs typeface="+mn-lt"/>
              </a:rPr>
              <a:t> than the non-pipelined version, despite similar latency.</a:t>
            </a:r>
          </a:p>
          <a:p>
            <a:r>
              <a:rPr lang="en-US" dirty="0">
                <a:ea typeface="+mn-lt"/>
                <a:cs typeface="+mn-lt"/>
              </a:rPr>
              <a:t>Area increases sharply when moving from iterative to pipelined design, because pipelining replicates hardware across stages. The IP core is optimized for area efficiency using DSP blocks.</a:t>
            </a:r>
          </a:p>
          <a:p>
            <a:r>
              <a:rPr lang="en-US" dirty="0">
                <a:ea typeface="+mn-lt"/>
                <a:cs typeface="+mn-lt"/>
              </a:rPr>
              <a:t>The </a:t>
            </a:r>
            <a:r>
              <a:rPr lang="en-US" b="1" dirty="0">
                <a:ea typeface="+mn-lt"/>
                <a:cs typeface="+mn-lt"/>
              </a:rPr>
              <a:t>non-pipelined design</a:t>
            </a:r>
            <a:r>
              <a:rPr lang="en-US" dirty="0">
                <a:ea typeface="+mn-lt"/>
                <a:cs typeface="+mn-lt"/>
              </a:rPr>
              <a:t> has the </a:t>
            </a:r>
            <a:r>
              <a:rPr lang="en-US" b="1" dirty="0">
                <a:ea typeface="+mn-lt"/>
                <a:cs typeface="+mn-lt"/>
              </a:rPr>
              <a:t>lowest power</a:t>
            </a:r>
            <a:r>
              <a:rPr lang="en-US" dirty="0">
                <a:ea typeface="+mn-lt"/>
                <a:cs typeface="+mn-lt"/>
              </a:rPr>
              <a:t>, only </a:t>
            </a:r>
            <a:r>
              <a:rPr lang="en-US" b="1" dirty="0">
                <a:ea typeface="+mn-lt"/>
                <a:cs typeface="+mn-lt"/>
              </a:rPr>
              <a:t>6 </a:t>
            </a:r>
            <a:r>
              <a:rPr lang="en-US" b="1" dirty="0" err="1">
                <a:ea typeface="+mn-lt"/>
                <a:cs typeface="+mn-lt"/>
              </a:rPr>
              <a:t>mW</a:t>
            </a:r>
            <a:r>
              <a:rPr lang="en-US" b="1" dirty="0">
                <a:ea typeface="+mn-lt"/>
                <a:cs typeface="+mn-lt"/>
              </a:rPr>
              <a:t> dynamic</a:t>
            </a:r>
            <a:r>
              <a:rPr lang="en-US" dirty="0">
                <a:ea typeface="+mn-lt"/>
                <a:cs typeface="+mn-lt"/>
              </a:rPr>
              <a:t>, because only one subtractor is active at a time.</a:t>
            </a:r>
          </a:p>
          <a:p>
            <a:r>
              <a:rPr lang="en-US" dirty="0">
                <a:ea typeface="+mn-lt"/>
                <a:cs typeface="+mn-lt"/>
              </a:rPr>
              <a:t>The </a:t>
            </a:r>
            <a:r>
              <a:rPr lang="en-US" b="1" dirty="0">
                <a:ea typeface="+mn-lt"/>
                <a:cs typeface="+mn-lt"/>
              </a:rPr>
              <a:t>pipelined design</a:t>
            </a:r>
            <a:r>
              <a:rPr lang="en-US" dirty="0">
                <a:ea typeface="+mn-lt"/>
                <a:cs typeface="+mn-lt"/>
              </a:rPr>
              <a:t> has significantly higher switching activity (~37 </a:t>
            </a:r>
            <a:r>
              <a:rPr lang="en-US" dirty="0" err="1">
                <a:ea typeface="+mn-lt"/>
                <a:cs typeface="+mn-lt"/>
              </a:rPr>
              <a:t>mW</a:t>
            </a:r>
            <a:r>
              <a:rPr lang="en-US" dirty="0">
                <a:ea typeface="+mn-lt"/>
                <a:cs typeface="+mn-lt"/>
              </a:rPr>
              <a:t>), due to 24 active stages.</a:t>
            </a:r>
            <a:endParaRPr lang="en-US" dirty="0"/>
          </a:p>
          <a:p>
            <a:r>
              <a:rPr lang="en-US" dirty="0">
                <a:ea typeface="+mn-lt"/>
                <a:cs typeface="+mn-lt"/>
              </a:rPr>
              <a:t>The </a:t>
            </a:r>
            <a:r>
              <a:rPr lang="en-US" b="1" dirty="0">
                <a:ea typeface="+mn-lt"/>
                <a:cs typeface="+mn-lt"/>
              </a:rPr>
              <a:t>IEEE-754 IP</a:t>
            </a:r>
            <a:r>
              <a:rPr lang="en-US" dirty="0">
                <a:ea typeface="+mn-lt"/>
                <a:cs typeface="+mn-lt"/>
              </a:rPr>
              <a:t> has the highest dynamic power (~53 </a:t>
            </a:r>
            <a:r>
              <a:rPr lang="en-US" dirty="0" err="1">
                <a:ea typeface="+mn-lt"/>
                <a:cs typeface="+mn-lt"/>
              </a:rPr>
              <a:t>mW</a:t>
            </a:r>
            <a:r>
              <a:rPr lang="en-US" dirty="0">
                <a:ea typeface="+mn-lt"/>
                <a:cs typeface="+mn-lt"/>
              </a:rPr>
              <a:t>), caused by DSP usage and larger internal arithmetic units.</a:t>
            </a:r>
            <a:endParaRPr lang="en-US" dirty="0"/>
          </a:p>
          <a:p>
            <a:r>
              <a:rPr lang="en-US" dirty="0">
                <a:ea typeface="+mn-lt"/>
                <a:cs typeface="+mn-lt"/>
              </a:rPr>
              <a:t> Frequency is </a:t>
            </a:r>
            <a:r>
              <a:rPr lang="en-US" b="1" dirty="0">
                <a:ea typeface="+mn-lt"/>
                <a:cs typeface="+mn-lt"/>
              </a:rPr>
              <a:t>not a limiting factor</a:t>
            </a:r>
            <a:r>
              <a:rPr lang="en-US" dirty="0">
                <a:ea typeface="+mn-lt"/>
                <a:cs typeface="+mn-lt"/>
              </a:rPr>
              <a:t> in any of the architectures.</a:t>
            </a:r>
          </a:p>
        </p:txBody>
      </p:sp>
    </p:spTree>
    <p:extLst>
      <p:ext uri="{BB962C8B-B14F-4D97-AF65-F5344CB8AC3E}">
        <p14:creationId xmlns:p14="http://schemas.microsoft.com/office/powerpoint/2010/main" val="196143498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otalTime>7</TotalTime>
  <Words>1110</Words>
  <Application>Microsoft Office PowerPoint</Application>
  <PresentationFormat>Widescreen</PresentationFormat>
  <Paragraphs>136</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Cambria</vt:lpstr>
      <vt:lpstr>Century Gothic</vt:lpstr>
      <vt:lpstr>Consolas</vt:lpstr>
      <vt:lpstr>Symbol</vt:lpstr>
      <vt:lpstr>Wingdings 3</vt:lpstr>
      <vt:lpstr>Wisp</vt:lpstr>
      <vt:lpstr>FPGA PROJECT</vt:lpstr>
      <vt:lpstr>GENERAL TERMS</vt:lpstr>
      <vt:lpstr>IEEE 754 FLOATING POINT NUMBERS </vt:lpstr>
      <vt:lpstr>IEEE 754 FLOATING POINT IP DIVIDER </vt:lpstr>
      <vt:lpstr>IEEE 754 FLOATING POINT IP DIVIDER </vt:lpstr>
      <vt:lpstr>IEEE 754 FLOATING POINT IP DIVIDER </vt:lpstr>
      <vt:lpstr>IEEE 754 FLOATING POINT IP DIVIDER </vt:lpstr>
      <vt:lpstr>IEEE 754 FLOATING POINT IP DIVIDER </vt:lpstr>
      <vt:lpstr>IEEE 754 FLOATING POINT IP DIVIDER </vt:lpstr>
      <vt:lpstr>IEEE 754 FLOATING POINT IP DIVIDER </vt:lpstr>
      <vt:lpstr>SUBTRACTIVE NON-PIPELINED DIVIDER</vt:lpstr>
      <vt:lpstr>FSM Stages for Non-Pipeline Subtractive Divider</vt:lpstr>
      <vt:lpstr>SUBTRACTIVE NON-PIPELINED DIVIDER</vt:lpstr>
      <vt:lpstr>SUBTRACTIVE NON-PIPELINED DIVIDER</vt:lpstr>
      <vt:lpstr>SUBTRACTIVE NON-PIPELINED DIVIDER</vt:lpstr>
      <vt:lpstr>SUBTRACTIVE NON-PIPELINED DIVIDER</vt:lpstr>
      <vt:lpstr>SUBTRACTIVE NON-PIPELINED DIVIDER</vt:lpstr>
      <vt:lpstr>SUBTRACTIVE NON-PIPELINED DIVIDER</vt:lpstr>
      <vt:lpstr>SUBTRACTIVE PIPELINED DIVIDER</vt:lpstr>
      <vt:lpstr>SUBTRACTIVE PIPELINED DIVIDER</vt:lpstr>
      <vt:lpstr>SUBTRACTIVE PIPELINED DIVIDER</vt:lpstr>
      <vt:lpstr>SUBTRACTIVE PIPELINED DIVIDER</vt:lpstr>
      <vt:lpstr>SUBTRACTIVE PIPELINED DIVIDER</vt:lpstr>
      <vt:lpstr>SUBTRACTIVE PIPELINED DIVIDER</vt:lpstr>
      <vt:lpstr>Comparison and Observations</vt:lpstr>
      <vt:lpstr>PowerPoint Presentation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Siddhant Deore</dc:creator>
  <cp:lastModifiedBy>Siddhant Deore</cp:lastModifiedBy>
  <cp:revision>3</cp:revision>
  <dcterms:created xsi:type="dcterms:W3CDTF">2025-11-24T10:24:35Z</dcterms:created>
  <dcterms:modified xsi:type="dcterms:W3CDTF">2025-11-25T07:22:41Z</dcterms:modified>
</cp:coreProperties>
</file>